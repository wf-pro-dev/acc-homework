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5" r:id="rId1"/>
  </p:sldMasterIdLst>
  <p:notesMasterIdLst>
    <p:notesMasterId r:id="rId37"/>
  </p:notesMasterIdLst>
  <p:sldIdLst>
    <p:sldId id="270" r:id="rId2"/>
    <p:sldId id="261" r:id="rId3"/>
    <p:sldId id="285" r:id="rId4"/>
    <p:sldId id="271" r:id="rId5"/>
    <p:sldId id="272" r:id="rId6"/>
    <p:sldId id="286" r:id="rId7"/>
    <p:sldId id="273" r:id="rId8"/>
    <p:sldId id="289" r:id="rId9"/>
    <p:sldId id="274" r:id="rId10"/>
    <p:sldId id="287" r:id="rId11"/>
    <p:sldId id="288" r:id="rId12"/>
    <p:sldId id="275" r:id="rId13"/>
    <p:sldId id="290" r:id="rId14"/>
    <p:sldId id="276" r:id="rId15"/>
    <p:sldId id="291" r:id="rId16"/>
    <p:sldId id="292" r:id="rId17"/>
    <p:sldId id="277" r:id="rId18"/>
    <p:sldId id="293" r:id="rId19"/>
    <p:sldId id="294" r:id="rId20"/>
    <p:sldId id="278" r:id="rId21"/>
    <p:sldId id="295" r:id="rId22"/>
    <p:sldId id="279" r:id="rId23"/>
    <p:sldId id="280" r:id="rId24"/>
    <p:sldId id="281" r:id="rId25"/>
    <p:sldId id="299" r:id="rId26"/>
    <p:sldId id="282" r:id="rId27"/>
    <p:sldId id="296" r:id="rId28"/>
    <p:sldId id="283" r:id="rId29"/>
    <p:sldId id="297" r:id="rId30"/>
    <p:sldId id="298" r:id="rId31"/>
    <p:sldId id="300" r:id="rId32"/>
    <p:sldId id="301" r:id="rId33"/>
    <p:sldId id="302" r:id="rId34"/>
    <p:sldId id="284" r:id="rId35"/>
    <p:sldId id="306" r:id="rId3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rk Collins"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74"/>
    <p:restoredTop sz="94623"/>
  </p:normalViewPr>
  <p:slideViewPr>
    <p:cSldViewPr snapToGrid="0">
      <p:cViewPr varScale="1">
        <p:scale>
          <a:sx n="130" d="100"/>
          <a:sy n="130" d="100"/>
        </p:scale>
        <p:origin x="81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lstStyle>
            <a:lvl1pPr marL="0" marR="0" lvl="0" indent="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lstStyle>
            <a:lvl1pPr marL="0" marR="0" lvl="0" indent="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lstStyle>
            <a:lvl1pPr marL="0" marR="0" lvl="0" indent="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812383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c67c0eb58_0_12: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5" name="Google Shape;75;g2c67c0eb5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76" name="Google Shape;76;g2c67c0eb58_0_1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4030166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1044936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418830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203124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601776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8044182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183907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692017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846753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6764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560898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2661239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8744794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3175057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2964011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67c0eb58_0_33:notes"/>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7" name="Google Shape;87;g2c67c0eb58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88" name="Google Shape;88;g2c67c0eb58_0_33: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24023809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rand Purple Content Slide">
  <p:cSld name="Brand Purple Content Slide">
    <p:bg>
      <p:bgPr>
        <a:solidFill>
          <a:schemeClr val="lt1"/>
        </a:solidFill>
        <a:effectLst/>
      </p:bgPr>
    </p:bg>
    <p:spTree>
      <p:nvGrpSpPr>
        <p:cNvPr id="1" name="Shape 18"/>
        <p:cNvGrpSpPr/>
        <p:nvPr/>
      </p:nvGrpSpPr>
      <p:grpSpPr>
        <a:xfrm>
          <a:off x="0" y="0"/>
          <a:ext cx="0" cy="0"/>
          <a:chOff x="0" y="0"/>
          <a:chExt cx="0" cy="0"/>
        </a:xfrm>
      </p:grpSpPr>
      <p:pic>
        <p:nvPicPr>
          <p:cNvPr id="20" name="Google Shape;20;p4" descr="Intellus Learning Open Courses Logo" title="Intellus Learning Open Courses"/>
          <p:cNvPicPr preferRelativeResize="0"/>
          <p:nvPr/>
        </p:nvPicPr>
        <p:blipFill>
          <a:blip r:embed="rId2">
            <a:alphaModFix/>
          </a:blip>
          <a:stretch>
            <a:fillRect/>
          </a:stretch>
        </p:blipFill>
        <p:spPr>
          <a:xfrm>
            <a:off x="174175" y="6146800"/>
            <a:ext cx="2133601" cy="711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Light Purple Content Slide">
  <p:cSld name="Light Purple Content Slide">
    <p:bg>
      <p:bgPr>
        <a:solidFill>
          <a:schemeClr val="lt1"/>
        </a:solidFill>
        <a:effectLst/>
      </p:bgPr>
    </p:bg>
    <p:spTree>
      <p:nvGrpSpPr>
        <p:cNvPr id="1" name="Shape 28"/>
        <p:cNvGrpSpPr/>
        <p:nvPr/>
      </p:nvGrpSpPr>
      <p:grpSpPr>
        <a:xfrm>
          <a:off x="0" y="0"/>
          <a:ext cx="0" cy="0"/>
          <a:chOff x="0" y="0"/>
          <a:chExt cx="0" cy="0"/>
        </a:xfrm>
      </p:grpSpPr>
      <p:pic>
        <p:nvPicPr>
          <p:cNvPr id="30" name="Google Shape;30;p6" descr="Intellus Learning Open Courses Logo" title="Intellus Learning Open Courses"/>
          <p:cNvPicPr preferRelativeResize="0"/>
          <p:nvPr/>
        </p:nvPicPr>
        <p:blipFill>
          <a:blip r:embed="rId2">
            <a:alphaModFix/>
          </a:blip>
          <a:stretch>
            <a:fillRect/>
          </a:stretch>
        </p:blipFill>
        <p:spPr>
          <a:xfrm>
            <a:off x="174175" y="6146800"/>
            <a:ext cx="2133601" cy="711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172201"/>
            <a:ext cx="3429000" cy="304800"/>
          </a:xfrm>
          <a:prstGeom prst="rect">
            <a:avLst/>
          </a:prstGeom>
        </p:spPr>
        <p:txBody>
          <a:bodyPr/>
          <a:lstStyle/>
          <a:p>
            <a:fld id="{93333F43-3E86-47E4-BFBB-2476D384E1C6}" type="datetime4">
              <a:rPr lang="en-US" smtClean="0"/>
              <a:pPr/>
              <a:t>October 6, 2021</a:t>
            </a:fld>
            <a:endParaRPr lang="en-US"/>
          </a:p>
        </p:txBody>
      </p:sp>
      <p:sp>
        <p:nvSpPr>
          <p:cNvPr id="5" name="Footer Placeholder 4"/>
          <p:cNvSpPr>
            <a:spLocks noGrp="1"/>
          </p:cNvSpPr>
          <p:nvPr>
            <p:ph type="ftr" sz="quarter" idx="11"/>
          </p:nvPr>
        </p:nvSpPr>
        <p:spPr>
          <a:xfrm>
            <a:off x="457200" y="6492875"/>
            <a:ext cx="3429000" cy="283845"/>
          </a:xfrm>
          <a:prstGeom prst="rect">
            <a:avLst/>
          </a:prstGeom>
        </p:spPr>
        <p:txBody>
          <a:bodyPr/>
          <a:lstStyle/>
          <a:p>
            <a:endParaRPr lang="en-US"/>
          </a:p>
        </p:txBody>
      </p:sp>
      <p:sp>
        <p:nvSpPr>
          <p:cNvPr id="6" name="Slide Number Placeholder 5"/>
          <p:cNvSpPr>
            <a:spLocks noGrp="1"/>
          </p:cNvSpPr>
          <p:nvPr>
            <p:ph type="sldNum" sz="quarter" idx="12"/>
          </p:nvPr>
        </p:nvSpPr>
        <p:spPr>
          <a:xfrm rot="16200000">
            <a:off x="8044814" y="683895"/>
            <a:ext cx="1315721" cy="365125"/>
          </a:xfrm>
          <a:prstGeom prst="rect">
            <a:avLst/>
          </a:prstGeom>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a:prstGeom prst="rect">
            <a:avLst/>
          </a:prstGeo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a:prstGeom prst="rect">
            <a:avLst/>
          </a:prstGeom>
        </p:spPr>
        <p:txBody>
          <a:bodyPr/>
          <a:lstStyle/>
          <a:p>
            <a:endParaRPr lang="en-US" dirty="0"/>
          </a:p>
        </p:txBody>
      </p:sp>
      <p:sp>
        <p:nvSpPr>
          <p:cNvPr id="9" name="Text Placeholder 10"/>
          <p:cNvSpPr>
            <a:spLocks noGrp="1"/>
          </p:cNvSpPr>
          <p:nvPr>
            <p:ph type="body" sz="quarter" idx="14"/>
          </p:nvPr>
        </p:nvSpPr>
        <p:spPr>
          <a:xfrm>
            <a:off x="457200" y="4843982"/>
            <a:ext cx="8062912" cy="1166382"/>
          </a:xfrm>
          <a:prstGeom prst="rect">
            <a:avLst/>
          </a:prstGeo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92434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a:prstGeom prst="rect">
            <a:avLst/>
          </a:prstGeom>
        </p:spPr>
        <p:txBody>
          <a:bodyPr/>
          <a:lstStyle/>
          <a:p>
            <a:r>
              <a:rPr lang="en-US" dirty="0"/>
              <a:t>Click to edit</a:t>
            </a:r>
          </a:p>
        </p:txBody>
      </p:sp>
      <p:sp>
        <p:nvSpPr>
          <p:cNvPr id="5" name="Date Placeholder 4"/>
          <p:cNvSpPr>
            <a:spLocks noGrp="1"/>
          </p:cNvSpPr>
          <p:nvPr>
            <p:ph type="dt" sz="half" idx="10"/>
          </p:nvPr>
        </p:nvSpPr>
        <p:spPr>
          <a:xfrm>
            <a:off x="457200" y="6172201"/>
            <a:ext cx="3429000" cy="304800"/>
          </a:xfrm>
          <a:prstGeom prst="rect">
            <a:avLst/>
          </a:prstGeom>
        </p:spPr>
        <p:txBody>
          <a:bodyPr/>
          <a:lstStyle/>
          <a:p>
            <a:fld id="{79B19C71-EC74-44AF-B27E-FC7DC3C3A61D}" type="datetime4">
              <a:rPr lang="en-US" smtClean="0"/>
              <a:pPr/>
              <a:t>October 6, 2021</a:t>
            </a:fld>
            <a:endParaRPr lang="en-US"/>
          </a:p>
        </p:txBody>
      </p:sp>
      <p:sp>
        <p:nvSpPr>
          <p:cNvPr id="6" name="Footer Placeholder 5"/>
          <p:cNvSpPr>
            <a:spLocks noGrp="1"/>
          </p:cNvSpPr>
          <p:nvPr>
            <p:ph type="ftr" sz="quarter" idx="11"/>
          </p:nvPr>
        </p:nvSpPr>
        <p:spPr>
          <a:xfrm>
            <a:off x="457200" y="6492875"/>
            <a:ext cx="3429000" cy="283845"/>
          </a:xfrm>
          <a:prstGeom prst="rect">
            <a:avLst/>
          </a:prstGeom>
        </p:spPr>
        <p:txBody>
          <a:bodyPr/>
          <a:lstStyle/>
          <a:p>
            <a:endParaRPr lang="en-US"/>
          </a:p>
        </p:txBody>
      </p:sp>
      <p:sp>
        <p:nvSpPr>
          <p:cNvPr id="7" name="Slide Number Placeholder 6"/>
          <p:cNvSpPr>
            <a:spLocks noGrp="1"/>
          </p:cNvSpPr>
          <p:nvPr>
            <p:ph type="sldNum" sz="quarter" idx="12"/>
          </p:nvPr>
        </p:nvSpPr>
        <p:spPr>
          <a:xfrm rot="16200000">
            <a:off x="8044814" y="683895"/>
            <a:ext cx="1315721" cy="365125"/>
          </a:xfrm>
          <a:prstGeom prst="rect">
            <a:avLst/>
          </a:prstGeom>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a:prstGeom prst="rect">
            <a:avLst/>
          </a:prstGeom>
        </p:spPr>
        <p:txBody>
          <a:bodyPr/>
          <a:lstStyle/>
          <a:p>
            <a:endParaRPr lang="en-US" dirty="0"/>
          </a:p>
        </p:txBody>
      </p:sp>
      <p:sp>
        <p:nvSpPr>
          <p:cNvPr id="11" name="Text Placeholder 10"/>
          <p:cNvSpPr>
            <a:spLocks noGrp="1"/>
          </p:cNvSpPr>
          <p:nvPr>
            <p:ph type="body" sz="quarter" idx="14"/>
          </p:nvPr>
        </p:nvSpPr>
        <p:spPr>
          <a:xfrm>
            <a:off x="4606925" y="1107618"/>
            <a:ext cx="3913188" cy="4607382"/>
          </a:xfrm>
          <a:prstGeom prst="rect">
            <a:avLst/>
          </a:prstGeo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4741427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0" r:id="rId1"/>
    <p:sldLayoutId id="2147483652" r:id="rId2"/>
    <p:sldLayoutId id="2147483656" r:id="rId3"/>
    <p:sldLayoutId id="2147483657" r:id="rId4"/>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2" name="Rectangle 1">
            <a:extLst>
              <a:ext uri="{FF2B5EF4-FFF2-40B4-BE49-F238E27FC236}">
                <a16:creationId xmlns:a16="http://schemas.microsoft.com/office/drawing/2014/main" id="{518FD15B-E206-D44C-B2DB-234C52DE3208}"/>
              </a:ext>
            </a:extLst>
          </p:cNvPr>
          <p:cNvSpPr/>
          <p:nvPr/>
        </p:nvSpPr>
        <p:spPr>
          <a:xfrm>
            <a:off x="1364993" y="2401340"/>
            <a:ext cx="2675732" cy="1446550"/>
          </a:xfrm>
          <a:prstGeom prst="rect">
            <a:avLst/>
          </a:prstGeom>
        </p:spPr>
        <p:txBody>
          <a:bodyPr wrap="none">
            <a:spAutoFit/>
          </a:bodyPr>
          <a:lstStyle/>
          <a:p>
            <a:r>
              <a:rPr lang="en-US" altLang="en-US" sz="4400" b="1" kern="1200" dirty="0">
                <a:solidFill>
                  <a:prstClr val="black"/>
                </a:solidFill>
                <a:latin typeface="Calibri"/>
                <a:ea typeface="ＭＳ Ｐゴシック" panose="020B0600070205080204" pitchFamily="34" charset="-128"/>
              </a:rPr>
              <a:t>Chapter 8</a:t>
            </a:r>
          </a:p>
          <a:p>
            <a:r>
              <a:rPr lang="en-US" altLang="en-US" sz="4400" b="1" kern="1200" dirty="0">
                <a:solidFill>
                  <a:prstClr val="black"/>
                </a:solidFill>
                <a:latin typeface="Calibri"/>
                <a:ea typeface="ＭＳ Ｐゴシック" panose="020B0600070205080204" pitchFamily="34" charset="-128"/>
              </a:rPr>
              <a:t>The Media</a:t>
            </a:r>
            <a:endParaRPr lang="en-US" dirty="0"/>
          </a:p>
        </p:txBody>
      </p:sp>
      <p:pic>
        <p:nvPicPr>
          <p:cNvPr id="5" name="Picture 4" descr="A logo with a stack of books and the word OpenStax beneath them." title="OS Log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1870" y="453136"/>
            <a:ext cx="1293226" cy="875792"/>
          </a:xfrm>
          <a:prstGeom prst="rect">
            <a:avLst/>
          </a:prstGeom>
        </p:spPr>
      </p:pic>
      <p:pic>
        <p:nvPicPr>
          <p:cNvPr id="6" name="Picture 5">
            <a:extLst>
              <a:ext uri="{FF2B5EF4-FFF2-40B4-BE49-F238E27FC236}">
                <a16:creationId xmlns:a16="http://schemas.microsoft.com/office/drawing/2014/main" id="{B7D1A416-7815-B04D-955D-11B93F7F3463}"/>
              </a:ext>
            </a:extLst>
          </p:cNvPr>
          <p:cNvPicPr>
            <a:picLocks noChangeAspect="1"/>
          </p:cNvPicPr>
          <p:nvPr/>
        </p:nvPicPr>
        <p:blipFill>
          <a:blip r:embed="rId4"/>
          <a:stretch>
            <a:fillRect/>
          </a:stretch>
        </p:blipFill>
        <p:spPr>
          <a:xfrm>
            <a:off x="5336680" y="1944356"/>
            <a:ext cx="2294450" cy="2969288"/>
          </a:xfrm>
          <a:prstGeom prst="rect">
            <a:avLst/>
          </a:prstGeom>
        </p:spPr>
      </p:pic>
    </p:spTree>
    <p:extLst>
      <p:ext uri="{BB962C8B-B14F-4D97-AF65-F5344CB8AC3E}">
        <p14:creationId xmlns:p14="http://schemas.microsoft.com/office/powerpoint/2010/main" val="4103434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EA474D46-9D20-A749-A462-61F2C25930FA}"/>
              </a:ext>
            </a:extLst>
          </p:cNvPr>
          <p:cNvSpPr/>
          <p:nvPr/>
        </p:nvSpPr>
        <p:spPr>
          <a:xfrm>
            <a:off x="3149880" y="366542"/>
            <a:ext cx="2844240" cy="707886"/>
          </a:xfrm>
          <a:prstGeom prst="rect">
            <a:avLst/>
          </a:prstGeom>
        </p:spPr>
        <p:txBody>
          <a:bodyPr wrap="none">
            <a:spAutoFit/>
          </a:bodyPr>
          <a:lstStyle/>
          <a:p>
            <a:r>
              <a:rPr lang="en-US" altLang="en-US" sz="4000" b="1" kern="1200" dirty="0">
                <a:solidFill>
                  <a:prstClr val="black"/>
                </a:solidFill>
                <a:latin typeface="Calibri"/>
                <a:ea typeface="ＭＳ Ｐゴシック" panose="020B0600070205080204" pitchFamily="34" charset="-128"/>
              </a:rPr>
              <a:t>Introduction</a:t>
            </a:r>
            <a:endParaRPr lang="en-US" dirty="0"/>
          </a:p>
        </p:txBody>
      </p:sp>
      <p:sp>
        <p:nvSpPr>
          <p:cNvPr id="3" name="Rectangle 2">
            <a:extLst>
              <a:ext uri="{FF2B5EF4-FFF2-40B4-BE49-F238E27FC236}">
                <a16:creationId xmlns:a16="http://schemas.microsoft.com/office/drawing/2014/main" id="{0FD94E54-4F40-D348-8993-98E4100C75C4}"/>
              </a:ext>
            </a:extLst>
          </p:cNvPr>
          <p:cNvSpPr/>
          <p:nvPr/>
        </p:nvSpPr>
        <p:spPr>
          <a:xfrm>
            <a:off x="564205" y="1385236"/>
            <a:ext cx="8064230" cy="2431435"/>
          </a:xfrm>
          <a:prstGeom prst="rect">
            <a:avLst/>
          </a:prstGeom>
        </p:spPr>
        <p:txBody>
          <a:bodyPr wrap="square">
            <a:spAutoFit/>
          </a:bodyPr>
          <a:lstStyle/>
          <a:p>
            <a:pPr lvl="0" defTabSz="457200" fontAlgn="base">
              <a:spcBef>
                <a:spcPct val="0"/>
              </a:spcBef>
              <a:spcAft>
                <a:spcPts val="1200"/>
              </a:spcAft>
              <a:buClrTx/>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Freedom of the press and an independent </a:t>
            </a:r>
            <a:r>
              <a:rPr lang="en-US" altLang="en-US" sz="2200" b="1" kern="1200" dirty="0">
                <a:solidFill>
                  <a:prstClr val="black"/>
                </a:solidFill>
                <a:latin typeface="Calibri" panose="020F0502020204030204" pitchFamily="34" charset="0"/>
                <a:ea typeface="ＭＳ Ｐゴシック" panose="020B0600070205080204" pitchFamily="34" charset="-128"/>
                <a:cs typeface="+mn-cs"/>
              </a:rPr>
              <a:t>media</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 are important dimensions of a liberal society and a necessary part of a healthy democracy. </a:t>
            </a:r>
          </a:p>
          <a:p>
            <a:pPr lvl="0" defTabSz="457200" fontAlgn="base">
              <a:spcBef>
                <a:spcPct val="0"/>
              </a:spcBef>
              <a:spcAft>
                <a:spcPts val="1200"/>
              </a:spcAft>
              <a:buClrTx/>
            </a:pPr>
            <a:endParaRPr lang="en-US" altLang="en-US" sz="2200" kern="1200" dirty="0">
              <a:solidFill>
                <a:prstClr val="black"/>
              </a:solidFill>
              <a:latin typeface="Calibri" panose="020F0502020204030204" pitchFamily="34" charset="0"/>
              <a:ea typeface="ＭＳ Ｐゴシック" panose="020B0600070205080204" pitchFamily="34" charset="-128"/>
              <a:cs typeface="+mn-cs"/>
            </a:endParaRPr>
          </a:p>
          <a:p>
            <a:pPr lvl="0" defTabSz="457200" fontAlgn="base">
              <a:spcBef>
                <a:spcPct val="0"/>
              </a:spcBef>
              <a:spcAft>
                <a:spcPts val="1200"/>
              </a:spcAft>
              <a:buClrTx/>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a:t>
            </a:r>
            <a:r>
              <a:rPr lang="en-US" altLang="ja-JP" sz="2200" i="1" kern="1200" dirty="0">
                <a:solidFill>
                  <a:prstClr val="black"/>
                </a:solidFill>
                <a:latin typeface="Calibri" panose="020F0502020204030204" pitchFamily="34" charset="0"/>
                <a:ea typeface="ＭＳ Ｐゴシック" panose="020B0600070205080204" pitchFamily="34" charset="-128"/>
                <a:cs typeface="+mn-cs"/>
              </a:rPr>
              <a:t>No government ought to be without censors,</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a:t>
            </a:r>
            <a:r>
              <a:rPr lang="en-US" altLang="ja-JP" sz="2200" kern="1200" dirty="0">
                <a:solidFill>
                  <a:prstClr val="black"/>
                </a:solidFill>
                <a:latin typeface="Calibri" panose="020F0502020204030204" pitchFamily="34" charset="0"/>
                <a:ea typeface="ＭＳ Ｐゴシック" panose="020B0600070205080204" pitchFamily="34" charset="-128"/>
                <a:cs typeface="+mn-cs"/>
              </a:rPr>
              <a:t> said Thomas Jefferson, </a:t>
            </a: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a:t>
            </a:r>
            <a:r>
              <a:rPr lang="en-US" altLang="ja-JP" sz="2200" i="1" kern="1200" dirty="0">
                <a:solidFill>
                  <a:prstClr val="black"/>
                </a:solidFill>
                <a:latin typeface="Calibri" panose="020F0502020204030204" pitchFamily="34" charset="0"/>
                <a:ea typeface="ＭＳ Ｐゴシック" panose="020B0600070205080204" pitchFamily="34" charset="-128"/>
                <a:cs typeface="+mn-cs"/>
              </a:rPr>
              <a:t>and where the press is free, no one ever will.</a:t>
            </a: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8.1</a:t>
            </a:r>
          </a:p>
        </p:txBody>
      </p:sp>
      <p:sp>
        <p:nvSpPr>
          <p:cNvPr id="7" name="Text"/>
          <p:cNvSpPr>
            <a:spLocks noGrp="1"/>
          </p:cNvSpPr>
          <p:nvPr>
            <p:ph type="body" sz="quarter" idx="14"/>
          </p:nvPr>
        </p:nvSpPr>
        <p:spPr/>
        <p:txBody>
          <a:bodyPr>
            <a:normAutofit/>
          </a:bodyPr>
          <a:lstStyle/>
          <a:p>
            <a:r>
              <a:rPr lang="en-US" sz="1600" dirty="0"/>
              <a:t>On August 8, 2015, activists for Black Lives Matter in Seattle commandeered presidential candidate Bernie Sanders’ campaign rally in an effort to get their message out. (credit: modification of work by Tiffany Von </a:t>
            </a:r>
            <a:r>
              <a:rPr lang="en-US" sz="1600" dirty="0" err="1"/>
              <a:t>Arnim</a:t>
            </a:r>
            <a:r>
              <a:rPr lang="en-US" sz="1600" dirty="0"/>
              <a:t>)</a:t>
            </a:r>
          </a:p>
        </p:txBody>
      </p:sp>
      <p:pic>
        <p:nvPicPr>
          <p:cNvPr id="2" name="Figure" descr="An image of Bernie Sanders on a stage. Bernie is standing to the right and several people are standing in front of a podium."/>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0952" r="-10952"/>
          <a:stretch>
            <a:fillRect/>
          </a:stretch>
        </p:blipFill>
        <p:spPr>
          <a:xfrm>
            <a:off x="457200" y="1122363"/>
            <a:ext cx="8062913" cy="3500437"/>
          </a:xfrm>
        </p:spPr>
      </p:pic>
    </p:spTree>
    <p:extLst>
      <p:ext uri="{BB962C8B-B14F-4D97-AF65-F5344CB8AC3E}">
        <p14:creationId xmlns:p14="http://schemas.microsoft.com/office/powerpoint/2010/main" val="1128498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3FE84DF2-BECC-1543-8ABA-9C34B69800E1}"/>
              </a:ext>
            </a:extLst>
          </p:cNvPr>
          <p:cNvSpPr/>
          <p:nvPr/>
        </p:nvSpPr>
        <p:spPr>
          <a:xfrm>
            <a:off x="2830947" y="366542"/>
            <a:ext cx="3482107" cy="707886"/>
          </a:xfrm>
          <a:prstGeom prst="rect">
            <a:avLst/>
          </a:prstGeom>
        </p:spPr>
        <p:txBody>
          <a:bodyPr wrap="none">
            <a:spAutoFit/>
          </a:bodyPr>
          <a:lstStyle/>
          <a:p>
            <a:r>
              <a:rPr lang="en-US" altLang="en-US" sz="4000" b="1" kern="1200" dirty="0">
                <a:solidFill>
                  <a:prstClr val="black"/>
                </a:solidFill>
                <a:latin typeface="Calibri"/>
                <a:ea typeface="ＭＳ Ｐゴシック" panose="020B0600070205080204" pitchFamily="34" charset="-128"/>
              </a:rPr>
              <a:t>What is Media?</a:t>
            </a:r>
            <a:endParaRPr lang="en-US" dirty="0"/>
          </a:p>
        </p:txBody>
      </p:sp>
      <p:sp>
        <p:nvSpPr>
          <p:cNvPr id="3" name="Rectangle 2">
            <a:extLst>
              <a:ext uri="{FF2B5EF4-FFF2-40B4-BE49-F238E27FC236}">
                <a16:creationId xmlns:a16="http://schemas.microsoft.com/office/drawing/2014/main" id="{C90DFA14-8D1A-A544-B5CD-C6188D032332}"/>
              </a:ext>
            </a:extLst>
          </p:cNvPr>
          <p:cNvSpPr/>
          <p:nvPr/>
        </p:nvSpPr>
        <p:spPr>
          <a:xfrm>
            <a:off x="359923" y="1289953"/>
            <a:ext cx="8608979" cy="4278094"/>
          </a:xfrm>
          <a:prstGeom prst="rect">
            <a:avLst/>
          </a:prstGeom>
        </p:spPr>
        <p:txBody>
          <a:bodyPr wrap="square">
            <a:spAutoFit/>
          </a:bodyPr>
          <a:lstStyle/>
          <a:p>
            <a:pPr marL="457200" lvl="0" indent="-457200" defTabSz="457200">
              <a:spcAft>
                <a:spcPts val="1200"/>
              </a:spcAft>
              <a:buClrTx/>
              <a:buFont typeface="Arial" panose="020B0604020202020204" pitchFamily="34" charset="0"/>
              <a:buChar char="•"/>
              <a:defRPr/>
            </a:pPr>
            <a:r>
              <a:rPr lang="en-US" sz="2200" kern="1200" dirty="0">
                <a:solidFill>
                  <a:prstClr val="black"/>
                </a:solidFill>
                <a:latin typeface="Calibri" panose="020F0502020204030204" pitchFamily="34" charset="0"/>
                <a:ea typeface="ＭＳ Ｐゴシック" panose="020B0600070205080204" pitchFamily="34" charset="-128"/>
                <a:cs typeface="+mn-cs"/>
              </a:rPr>
              <a:t>The term </a:t>
            </a:r>
            <a:r>
              <a:rPr lang="en-US" sz="2200" b="1" kern="1200" dirty="0">
                <a:solidFill>
                  <a:prstClr val="black"/>
                </a:solidFill>
                <a:latin typeface="Calibri" panose="020F0502020204030204" pitchFamily="34" charset="0"/>
                <a:ea typeface="ＭＳ Ｐゴシック" panose="020B0600070205080204" pitchFamily="34" charset="-128"/>
                <a:cs typeface="+mn-cs"/>
              </a:rPr>
              <a:t>media</a:t>
            </a:r>
            <a:r>
              <a:rPr lang="en-US" sz="2200" kern="1200" dirty="0">
                <a:solidFill>
                  <a:prstClr val="black"/>
                </a:solidFill>
                <a:latin typeface="Calibri" panose="020F0502020204030204" pitchFamily="34" charset="0"/>
                <a:ea typeface="ＭＳ Ｐゴシック" panose="020B0600070205080204" pitchFamily="34" charset="-128"/>
                <a:cs typeface="+mn-cs"/>
              </a:rPr>
              <a:t> defines a number of different communication formats  from television to print.</a:t>
            </a:r>
          </a:p>
          <a:p>
            <a:pPr marL="457200" lvl="0" indent="-457200" defTabSz="457200">
              <a:spcAft>
                <a:spcPts val="1200"/>
              </a:spcAft>
              <a:buClrTx/>
              <a:buFont typeface="Arial" panose="020B0604020202020204" pitchFamily="34" charset="0"/>
              <a:buChar char="•"/>
              <a:defRPr/>
            </a:pPr>
            <a:r>
              <a:rPr lang="en-US" sz="2200" kern="1200" dirty="0">
                <a:solidFill>
                  <a:prstClr val="black"/>
                </a:solidFill>
                <a:latin typeface="Calibri" panose="020F0502020204030204" pitchFamily="34" charset="0"/>
                <a:ea typeface="ＭＳ Ｐゴシック" panose="020B0600070205080204" pitchFamily="34" charset="-128"/>
                <a:cs typeface="+mn-cs"/>
              </a:rPr>
              <a:t> The collection of all forms of media that communicate information to the public is called </a:t>
            </a:r>
            <a:r>
              <a:rPr lang="en-US" sz="2200" i="1" kern="1200" dirty="0">
                <a:solidFill>
                  <a:prstClr val="black"/>
                </a:solidFill>
                <a:latin typeface="Calibri" panose="020F0502020204030204" pitchFamily="34" charset="0"/>
                <a:ea typeface="ＭＳ Ｐゴシック" panose="020B0600070205080204" pitchFamily="34" charset="-128"/>
                <a:cs typeface="+mn-cs"/>
              </a:rPr>
              <a:t>mass media</a:t>
            </a:r>
            <a:r>
              <a:rPr lang="en-US" sz="2200" kern="1200" dirty="0">
                <a:solidFill>
                  <a:prstClr val="black"/>
                </a:solidFill>
                <a:latin typeface="Calibri" panose="020F0502020204030204" pitchFamily="34" charset="0"/>
                <a:ea typeface="ＭＳ Ｐゴシック" panose="020B0600070205080204" pitchFamily="34" charset="-128"/>
                <a:cs typeface="+mn-cs"/>
              </a:rPr>
              <a:t>, including television, print, radio, and internet. </a:t>
            </a:r>
          </a:p>
          <a:p>
            <a:pPr marL="457200" lvl="0" indent="-457200" defTabSz="457200">
              <a:spcAft>
                <a:spcPts val="1200"/>
              </a:spcAft>
              <a:buClrTx/>
              <a:buFont typeface="Arial" panose="020B0604020202020204" pitchFamily="34" charset="0"/>
              <a:buChar char="•"/>
              <a:defRPr/>
            </a:pPr>
            <a:r>
              <a:rPr lang="en-US" sz="2200" kern="1200" dirty="0">
                <a:solidFill>
                  <a:prstClr val="black"/>
                </a:solidFill>
                <a:latin typeface="Calibri" panose="020F0502020204030204" pitchFamily="34" charset="0"/>
                <a:ea typeface="ＭＳ Ｐゴシック" panose="020B0600070205080204" pitchFamily="34" charset="-128"/>
                <a:cs typeface="+mn-cs"/>
              </a:rPr>
              <a:t>We expect the media to cover important political and social events in a concise and neutral manner.</a:t>
            </a:r>
          </a:p>
          <a:p>
            <a:pPr marL="457200" lvl="0" indent="-457200" defTabSz="457200">
              <a:spcAft>
                <a:spcPts val="1200"/>
              </a:spcAft>
              <a:buClrTx/>
              <a:buFont typeface="Arial" panose="020B0604020202020204" pitchFamily="34" charset="0"/>
              <a:buChar char="•"/>
              <a:defRPr/>
            </a:pPr>
            <a:r>
              <a:rPr lang="en-US" sz="2200" kern="1200" dirty="0">
                <a:solidFill>
                  <a:prstClr val="black"/>
                </a:solidFill>
                <a:latin typeface="Calibri" panose="020F0502020204030204" pitchFamily="34" charset="0"/>
                <a:ea typeface="ＭＳ Ｐゴシック" panose="020B0600070205080204" pitchFamily="34" charset="-128"/>
                <a:cs typeface="+mn-cs"/>
              </a:rPr>
              <a:t>The work of the news media differs from </a:t>
            </a:r>
            <a:r>
              <a:rPr lang="en-US" sz="2200" i="1" kern="1200" dirty="0">
                <a:solidFill>
                  <a:prstClr val="black"/>
                </a:solidFill>
                <a:latin typeface="Calibri" panose="020F0502020204030204" pitchFamily="34" charset="0"/>
                <a:ea typeface="ＭＳ Ｐゴシック" panose="020B0600070205080204" pitchFamily="34" charset="-128"/>
                <a:cs typeface="+mn-cs"/>
              </a:rPr>
              <a:t>public relations</a:t>
            </a:r>
            <a:r>
              <a:rPr lang="en-US" sz="2200" kern="1200" dirty="0">
                <a:solidFill>
                  <a:prstClr val="black"/>
                </a:solidFill>
                <a:latin typeface="Calibri" panose="020F0502020204030204" pitchFamily="34" charset="0"/>
                <a:ea typeface="ＭＳ Ｐゴシック" panose="020B0600070205080204" pitchFamily="34" charset="-128"/>
                <a:cs typeface="+mn-cs"/>
              </a:rPr>
              <a:t>, which is communication designed to improve the image of companies, organizations, or candidates. Public relations is not a neutral information form.</a:t>
            </a:r>
          </a:p>
        </p:txBody>
      </p:sp>
    </p:spTree>
    <p:extLst>
      <p:ext uri="{BB962C8B-B14F-4D97-AF65-F5344CB8AC3E}">
        <p14:creationId xmlns:p14="http://schemas.microsoft.com/office/powerpoint/2010/main" val="2710386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BA0DEA3A-508C-2E4C-AEC9-142D205F63DF}"/>
              </a:ext>
            </a:extLst>
          </p:cNvPr>
          <p:cNvSpPr/>
          <p:nvPr/>
        </p:nvSpPr>
        <p:spPr>
          <a:xfrm>
            <a:off x="2448663" y="366541"/>
            <a:ext cx="4246675" cy="707886"/>
          </a:xfrm>
          <a:prstGeom prst="rect">
            <a:avLst/>
          </a:prstGeom>
        </p:spPr>
        <p:txBody>
          <a:bodyPr wrap="none">
            <a:spAutoFit/>
          </a:bodyPr>
          <a:lstStyle/>
          <a:p>
            <a:r>
              <a:rPr lang="en-US" altLang="en-US" sz="4000" b="1" kern="1200" dirty="0">
                <a:solidFill>
                  <a:prstClr val="black"/>
                </a:solidFill>
                <a:latin typeface="Calibri"/>
                <a:ea typeface="ＭＳ Ｐゴシック" panose="020B0600070205080204" pitchFamily="34" charset="-128"/>
              </a:rPr>
              <a:t>Functions of Media</a:t>
            </a:r>
            <a:endParaRPr lang="en-US" dirty="0"/>
          </a:p>
        </p:txBody>
      </p:sp>
      <p:sp>
        <p:nvSpPr>
          <p:cNvPr id="3" name="Rectangle 2">
            <a:extLst>
              <a:ext uri="{FF2B5EF4-FFF2-40B4-BE49-F238E27FC236}">
                <a16:creationId xmlns:a16="http://schemas.microsoft.com/office/drawing/2014/main" id="{5D182F15-0F2E-F349-B7D4-17F2EC322CD0}"/>
              </a:ext>
            </a:extLst>
          </p:cNvPr>
          <p:cNvSpPr/>
          <p:nvPr/>
        </p:nvSpPr>
        <p:spPr>
          <a:xfrm>
            <a:off x="496111" y="1236610"/>
            <a:ext cx="8278238" cy="3447098"/>
          </a:xfrm>
          <a:prstGeom prst="rect">
            <a:avLst/>
          </a:prstGeom>
        </p:spPr>
        <p:txBody>
          <a:bodyPr wrap="square">
            <a:spAutoFit/>
          </a:bodyPr>
          <a:lstStyle/>
          <a:p>
            <a:pPr marL="342900" lvl="0" indent="-342900" defTabSz="457200" fontAlgn="base">
              <a:spcBef>
                <a:spcPct val="0"/>
              </a:spcBef>
              <a:spcAft>
                <a:spcPts val="1200"/>
              </a:spcAft>
              <a:buClrTx/>
              <a:buFont typeface="Arial" panose="020B0604020202020204" pitchFamily="34" charset="0"/>
              <a:buChar char="•"/>
            </a:pPr>
            <a:r>
              <a:rPr lang="en-US" altLang="en-US" sz="2200" kern="1200" dirty="0">
                <a:latin typeface="Calibri" panose="020F0502020204030204" pitchFamily="34" charset="0"/>
                <a:ea typeface="ＭＳ Ｐゴシック" panose="020B0600070205080204" pitchFamily="34" charset="-128"/>
                <a:cs typeface="+mn-cs"/>
              </a:rPr>
              <a:t>The media exist to fill a number of </a:t>
            </a:r>
            <a:r>
              <a:rPr lang="en-US" altLang="en-US" sz="2200" b="1" kern="1200" dirty="0">
                <a:latin typeface="Calibri" panose="020F0502020204030204" pitchFamily="34" charset="0"/>
                <a:ea typeface="ＭＳ Ｐゴシック" panose="020B0600070205080204" pitchFamily="34" charset="-128"/>
                <a:cs typeface="+mn-cs"/>
              </a:rPr>
              <a:t>functions</a:t>
            </a:r>
            <a:r>
              <a:rPr lang="en-US" altLang="en-US" sz="2200" kern="1200" dirty="0">
                <a:latin typeface="Calibri" panose="020F0502020204030204" pitchFamily="34" charset="0"/>
                <a:ea typeface="ＭＳ Ｐゴシック" panose="020B0600070205080204" pitchFamily="34" charset="-128"/>
                <a:cs typeface="+mn-cs"/>
              </a:rPr>
              <a:t>. Whether the medium is a newspaper, a radio broadcast, or a television newscast, a corporation behind the scenes must bring in revenue to pay for production.</a:t>
            </a:r>
          </a:p>
          <a:p>
            <a:pPr marL="342900" lvl="0"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The media are also watchdogs of society and of public officials.</a:t>
            </a:r>
          </a:p>
          <a:p>
            <a:pPr marL="342900" lvl="0"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Some refer to the media as the </a:t>
            </a: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fourth estate</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 with the branches of government being the first three estates and the media equally participating as the fourth. This role helps maintain democracy and keeps the government accountable for its actions. </a:t>
            </a:r>
          </a:p>
        </p:txBody>
      </p:sp>
    </p:spTree>
    <p:extLst>
      <p:ext uri="{BB962C8B-B14F-4D97-AF65-F5344CB8AC3E}">
        <p14:creationId xmlns:p14="http://schemas.microsoft.com/office/powerpoint/2010/main" val="1649207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8.2</a:t>
            </a:r>
          </a:p>
        </p:txBody>
      </p:sp>
      <p:sp>
        <p:nvSpPr>
          <p:cNvPr id="7" name="Text"/>
          <p:cNvSpPr>
            <a:spLocks noGrp="1"/>
          </p:cNvSpPr>
          <p:nvPr>
            <p:ph type="body" sz="quarter" idx="14"/>
          </p:nvPr>
        </p:nvSpPr>
        <p:spPr>
          <a:xfrm>
            <a:off x="457199" y="5849470"/>
            <a:ext cx="8062912" cy="846693"/>
          </a:xfrm>
        </p:spPr>
        <p:txBody>
          <a:bodyPr>
            <a:normAutofit/>
          </a:bodyPr>
          <a:lstStyle/>
          <a:p>
            <a:r>
              <a:rPr lang="en-US" sz="1600" dirty="0"/>
              <a:t>Age greatly influences the choice of news sources. Baby boomers are more likely to get news and information from television, while members of generation X and </a:t>
            </a:r>
            <a:r>
              <a:rPr lang="en-US" sz="1600" dirty="0" err="1"/>
              <a:t>millennials</a:t>
            </a:r>
            <a:r>
              <a:rPr lang="en-US" sz="1600" dirty="0"/>
              <a:t> are more likely to use social media.</a:t>
            </a:r>
          </a:p>
        </p:txBody>
      </p:sp>
      <p:pic>
        <p:nvPicPr>
          <p:cNvPr id="4" name="Picture Placeholder 3" descr="A graph titled “where do you get your news?”. The legend indicates three categories: “Baby Boomer”, “Generation X”, and “Millennial”. The x-axis of the graph is labeled “Percentage of demographic group getting news from source” and goes from 0% at the origin to 70%. The y-axis of the graph is labeled “News Source” and lists several sources. For “Youtube”, approximately 22% is shown for Millennials, approximately 11% is shown for Generation X, and approximately 10% is shown for Baby Boomers. For “Wall Street Journal”, approximately 9% is shown for Millennials, approximately 9% is shown for Generation X, and approximately 12% is shown for Baby Boomers. For “Twitter”, approximately 13% is shown for Millennials, approximately 9% is shown for Generation X, and approximately 5% is shown for Baby Boomers. For “Rush Limbaugh”, approximately 3% is shown for Millennials, approximately 7% is shown for Generation X, and approximately 12% is shown for Baby Boomers. For “NPR”, approximately 18% is shown for Millennials, approximately 21% is shown for Generation X, and approximately 22% is shown for Baby Boomers. For “FOX”, approximately 30% is shown for Millennials, approximately 36% is shown for Generation X, and approximately 47% is shown for Baby Boomers. For “Facebook”, approximately 61% is shown for Millennials, approximately 51% is shown for Generation X, and approximately 39% is shown for Baby Boomers. For “CNN”, approximately 44% is shown for Millennials, approximately 45% is shown for Generation X, and approximately 43% is shown for Baby Boomers. For “CBS”, approximately 19% is shown for Millennials, approximately 27% is shown for Generation X, and approximately 39% is shown for Baby Boomers. For “BBC”, approximately 16% is shown for Millennials, approximately 16% is shown for Generation X, and approximately 18% is shown for Baby Boomers. At the bottom of the graph, a source is cited: “Pew Research Center. “American Trends Panel (wave 1).” April 29, 2014.”." title="Figure 8.2"/>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2312893" y="241326"/>
            <a:ext cx="6397325" cy="5288456"/>
          </a:xfrm>
        </p:spPr>
      </p:pic>
    </p:spTree>
    <p:extLst>
      <p:ext uri="{BB962C8B-B14F-4D97-AF65-F5344CB8AC3E}">
        <p14:creationId xmlns:p14="http://schemas.microsoft.com/office/powerpoint/2010/main" val="498165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45D000B5-0EC7-1645-9D49-99FE6A5EA046}"/>
              </a:ext>
            </a:extLst>
          </p:cNvPr>
          <p:cNvSpPr/>
          <p:nvPr/>
        </p:nvSpPr>
        <p:spPr>
          <a:xfrm>
            <a:off x="1811148" y="366542"/>
            <a:ext cx="5521704" cy="707886"/>
          </a:xfrm>
          <a:prstGeom prst="rect">
            <a:avLst/>
          </a:prstGeom>
        </p:spPr>
        <p:txBody>
          <a:bodyPr wrap="none">
            <a:spAutoFit/>
          </a:bodyPr>
          <a:lstStyle/>
          <a:p>
            <a:r>
              <a:rPr lang="en-US" altLang="en-US" sz="4000" b="1" kern="1200" dirty="0">
                <a:solidFill>
                  <a:prstClr val="black"/>
                </a:solidFill>
                <a:latin typeface="Calibri"/>
                <a:ea typeface="ＭＳ Ｐゴシック" panose="020B0600070205080204" pitchFamily="34" charset="-128"/>
              </a:rPr>
              <a:t>More Functions of Media</a:t>
            </a:r>
            <a:endParaRPr lang="en-US" dirty="0"/>
          </a:p>
        </p:txBody>
      </p:sp>
      <p:sp>
        <p:nvSpPr>
          <p:cNvPr id="3" name="Rectangle 2">
            <a:extLst>
              <a:ext uri="{FF2B5EF4-FFF2-40B4-BE49-F238E27FC236}">
                <a16:creationId xmlns:a16="http://schemas.microsoft.com/office/drawing/2014/main" id="{36B58565-3F8C-8A44-A6F6-E3453FB0970A}"/>
              </a:ext>
            </a:extLst>
          </p:cNvPr>
          <p:cNvSpPr/>
          <p:nvPr/>
        </p:nvSpPr>
        <p:spPr>
          <a:xfrm>
            <a:off x="569068" y="1475895"/>
            <a:ext cx="8005864" cy="3108543"/>
          </a:xfrm>
          <a:prstGeom prst="rect">
            <a:avLst/>
          </a:prstGeom>
        </p:spPr>
        <p:txBody>
          <a:bodyPr wrap="square">
            <a:spAutoFit/>
          </a:bodyPr>
          <a:lstStyle/>
          <a:p>
            <a:pPr marL="457200" lvl="0" indent="-4572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The </a:t>
            </a:r>
            <a:r>
              <a:rPr lang="en-US" altLang="en-US" sz="2200" b="1" kern="1200" dirty="0">
                <a:solidFill>
                  <a:prstClr val="black"/>
                </a:solidFill>
                <a:latin typeface="Calibri" panose="020F0502020204030204" pitchFamily="34" charset="0"/>
                <a:ea typeface="ＭＳ Ｐゴシック" panose="020B0600070205080204" pitchFamily="34" charset="-128"/>
                <a:cs typeface="+mn-cs"/>
              </a:rPr>
              <a:t>media</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 also engages in </a:t>
            </a: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agenda setting</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 which is the act of choosing which issues or topics deserve public discussion.</a:t>
            </a:r>
          </a:p>
          <a:p>
            <a:pPr marL="457200" lvl="0" indent="-4572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Before the internet, traditional media determined whether citizen photographs or video footage would become “news.”</a:t>
            </a:r>
          </a:p>
          <a:p>
            <a:pPr marL="457200" lvl="0" indent="-4572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The media also promote the public good by offering a platform for public debate and improving citizen awareness. Network news informs the electorate about national issues, elections, and international news.</a:t>
            </a:r>
          </a:p>
        </p:txBody>
      </p:sp>
    </p:spTree>
    <p:extLst>
      <p:ext uri="{BB962C8B-B14F-4D97-AF65-F5344CB8AC3E}">
        <p14:creationId xmlns:p14="http://schemas.microsoft.com/office/powerpoint/2010/main" val="4250720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normAutofit/>
          </a:bodyPr>
          <a:lstStyle/>
          <a:p>
            <a:r>
              <a:rPr lang="en-US" sz="1600" b="1" dirty="0">
                <a:solidFill>
                  <a:schemeClr val="tx1"/>
                </a:solidFill>
              </a:rPr>
              <a:t>Figure 8.4</a:t>
            </a:r>
          </a:p>
        </p:txBody>
      </p:sp>
      <p:sp>
        <p:nvSpPr>
          <p:cNvPr id="14" name="Text"/>
          <p:cNvSpPr>
            <a:spLocks noGrp="1"/>
          </p:cNvSpPr>
          <p:nvPr>
            <p:ph type="body" sz="quarter" idx="14"/>
          </p:nvPr>
        </p:nvSpPr>
        <p:spPr>
          <a:xfrm>
            <a:off x="4606925" y="1107617"/>
            <a:ext cx="3913188" cy="5256973"/>
          </a:xfrm>
        </p:spPr>
        <p:txBody>
          <a:bodyPr>
            <a:noAutofit/>
          </a:bodyPr>
          <a:lstStyle/>
          <a:p>
            <a:r>
              <a:rPr lang="en-US" sz="1600" dirty="0">
                <a:solidFill>
                  <a:schemeClr val="tx1"/>
                </a:solidFill>
              </a:rPr>
              <a:t>Christiane </a:t>
            </a:r>
            <a:r>
              <a:rPr lang="en-US" sz="1600" dirty="0" err="1">
                <a:solidFill>
                  <a:schemeClr val="tx1"/>
                </a:solidFill>
              </a:rPr>
              <a:t>Amanpour</a:t>
            </a:r>
            <a:r>
              <a:rPr lang="en-US" sz="1600" dirty="0">
                <a:solidFill>
                  <a:schemeClr val="tx1"/>
                </a:solidFill>
              </a:rPr>
              <a:t> accepts the award for the Association for International Broadcasting’s Personality of the Year on November 4, 2015. (credit: AIB (Association for International Broadcasting))</a:t>
            </a:r>
          </a:p>
        </p:txBody>
      </p:sp>
      <p:pic>
        <p:nvPicPr>
          <p:cNvPr id="4" name="Picture 2" descr="An image of Christiane Amanpou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44217" y="1107618"/>
            <a:ext cx="3120334" cy="4060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4754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46825097-48E6-3C48-81A7-401B7398AFF5}"/>
              </a:ext>
            </a:extLst>
          </p:cNvPr>
          <p:cNvSpPr/>
          <p:nvPr/>
        </p:nvSpPr>
        <p:spPr>
          <a:xfrm>
            <a:off x="1283183" y="366542"/>
            <a:ext cx="6577634" cy="707886"/>
          </a:xfrm>
          <a:prstGeom prst="rect">
            <a:avLst/>
          </a:prstGeom>
        </p:spPr>
        <p:txBody>
          <a:bodyPr wrap="none">
            <a:spAutoFit/>
          </a:bodyPr>
          <a:lstStyle/>
          <a:p>
            <a:r>
              <a:rPr lang="en-US" altLang="en-US" sz="4000" b="1" kern="1200" dirty="0">
                <a:solidFill>
                  <a:prstClr val="black"/>
                </a:solidFill>
                <a:latin typeface="Calibri"/>
                <a:ea typeface="ＭＳ Ｐゴシック" panose="020B0600070205080204" pitchFamily="34" charset="-128"/>
              </a:rPr>
              <a:t>Media Formats and Audiences</a:t>
            </a:r>
            <a:endParaRPr lang="en-US" dirty="0"/>
          </a:p>
        </p:txBody>
      </p:sp>
      <p:sp>
        <p:nvSpPr>
          <p:cNvPr id="3" name="Rectangle 2">
            <a:extLst>
              <a:ext uri="{FF2B5EF4-FFF2-40B4-BE49-F238E27FC236}">
                <a16:creationId xmlns:a16="http://schemas.microsoft.com/office/drawing/2014/main" id="{2AB21E91-3502-944E-8DC3-B7C1873CC62C}"/>
              </a:ext>
            </a:extLst>
          </p:cNvPr>
          <p:cNvSpPr/>
          <p:nvPr/>
        </p:nvSpPr>
        <p:spPr>
          <a:xfrm>
            <a:off x="496110" y="1473262"/>
            <a:ext cx="8307421" cy="3262432"/>
          </a:xfrm>
          <a:prstGeom prst="rect">
            <a:avLst/>
          </a:prstGeom>
        </p:spPr>
        <p:txBody>
          <a:bodyPr wrap="square">
            <a:spAutoFit/>
          </a:bodyPr>
          <a:lstStyle/>
          <a:p>
            <a:pPr marL="342900" lvl="0" indent="-342900" defTabSz="457200">
              <a:spcAft>
                <a:spcPts val="1200"/>
              </a:spcAft>
              <a:buClrTx/>
              <a:buFont typeface="Arial" panose="020B0604020202020204" pitchFamily="34" charset="0"/>
              <a:buChar char="•"/>
              <a:defRPr/>
            </a:pPr>
            <a:r>
              <a:rPr lang="en-US" sz="2200" kern="1200" dirty="0">
                <a:solidFill>
                  <a:prstClr val="black"/>
                </a:solidFill>
                <a:latin typeface="Calibri" panose="020F0502020204030204" pitchFamily="34" charset="0"/>
                <a:ea typeface="ＭＳ Ｐゴシック" panose="020B0600070205080204" pitchFamily="34" charset="-128"/>
                <a:cs typeface="+mn-cs"/>
              </a:rPr>
              <a:t>Each form of media has its own complexities and is used by different demographics.</a:t>
            </a:r>
          </a:p>
          <a:p>
            <a:pPr marL="342900" lvl="0" indent="-342900" defTabSz="457200">
              <a:spcAft>
                <a:spcPts val="1200"/>
              </a:spcAft>
              <a:buClrTx/>
              <a:buFont typeface="Arial" panose="020B0604020202020204" pitchFamily="34" charset="0"/>
              <a:buChar char="•"/>
              <a:defRPr/>
            </a:pPr>
            <a:r>
              <a:rPr lang="en-US" sz="2200" kern="1200" dirty="0">
                <a:solidFill>
                  <a:prstClr val="black"/>
                </a:solidFill>
                <a:latin typeface="Calibri" panose="020F0502020204030204" pitchFamily="34" charset="0"/>
                <a:ea typeface="ＭＳ Ｐゴシック" panose="020B0600070205080204" pitchFamily="34" charset="-128"/>
                <a:cs typeface="+mn-cs"/>
              </a:rPr>
              <a:t>Age greatly influences the choice of news sources:</a:t>
            </a:r>
          </a:p>
          <a:p>
            <a:pPr marL="800100" lvl="1"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rPr>
              <a:t>Millennials (born early 1980s to early 2000s) and Generation X (early 1960s to early 1980s) are more likely to get news and information from social media, such as YouTube and Twitter.</a:t>
            </a:r>
          </a:p>
          <a:p>
            <a:pPr marL="800100" lvl="1"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rPr>
              <a:t>Baby boomers (born early 1940s to early 1960s) are most likely to get their news from television.</a:t>
            </a:r>
          </a:p>
        </p:txBody>
      </p:sp>
    </p:spTree>
    <p:extLst>
      <p:ext uri="{BB962C8B-B14F-4D97-AF65-F5344CB8AC3E}">
        <p14:creationId xmlns:p14="http://schemas.microsoft.com/office/powerpoint/2010/main" val="2241459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8.3 (2019 version)</a:t>
            </a:r>
          </a:p>
        </p:txBody>
      </p:sp>
      <p:sp>
        <p:nvSpPr>
          <p:cNvPr id="7" name="Text"/>
          <p:cNvSpPr>
            <a:spLocks noGrp="1"/>
          </p:cNvSpPr>
          <p:nvPr>
            <p:ph type="body" sz="quarter" idx="14"/>
          </p:nvPr>
        </p:nvSpPr>
        <p:spPr>
          <a:xfrm>
            <a:off x="457199" y="5995805"/>
            <a:ext cx="8062912" cy="497070"/>
          </a:xfrm>
        </p:spPr>
        <p:txBody>
          <a:bodyPr>
            <a:normAutofit fontScale="85000" lnSpcReduction="10000"/>
          </a:bodyPr>
          <a:lstStyle/>
          <a:p>
            <a:r>
              <a:rPr lang="en-US" sz="1600" dirty="0"/>
              <a:t>In 1983, fifty companies owned 90 percent of U.S. media. By 2019, just six conglomerates controlled the same percentage of U.S. media outlets. And by 2021 it was down to 4 (next slide).</a:t>
            </a:r>
          </a:p>
        </p:txBody>
      </p:sp>
      <p:pic>
        <p:nvPicPr>
          <p:cNvPr id="1026" name="Picture 2" descr="A chart demonstrates the decline in number of media companies within the U.S. On the left, there are 50 small TVs in a 10 by 5 table, labeled “1983: 90% of media, 50 companies”. On the left are six large screen TVs labeled “CBS”, “Comcast”, “Disney”, “21st Century Fox”, “Time Warner”, and “Viacom”. A label reads “2019: 90% of media, 6 companies”."/>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77222" y="772762"/>
            <a:ext cx="7642889" cy="5009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411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8.3 </a:t>
            </a:r>
            <a:r>
              <a:rPr lang="mr-IN" b="1" dirty="0"/>
              <a:t>–</a:t>
            </a:r>
            <a:r>
              <a:rPr lang="en-US" b="1" dirty="0"/>
              <a:t> 2021</a:t>
            </a:r>
          </a:p>
        </p:txBody>
      </p:sp>
      <p:sp>
        <p:nvSpPr>
          <p:cNvPr id="6" name="Footer">
            <a:extLst>
              <a:ext uri="{FF2B5EF4-FFF2-40B4-BE49-F238E27FC236}">
                <a16:creationId xmlns:a16="http://schemas.microsoft.com/office/drawing/2014/main" id="{577091F6-74E4-4821-A4E2-A239F962DC3E}"/>
              </a:ext>
            </a:extLst>
          </p:cNvPr>
          <p:cNvSpPr>
            <a:spLocks noGrp="1"/>
          </p:cNvSpPr>
          <p:nvPr>
            <p:ph type="ftr" sz="quarter" idx="11"/>
          </p:nvPr>
        </p:nvSpPr>
        <p:spPr>
          <a:xfrm>
            <a:off x="457199" y="6427695"/>
            <a:ext cx="8062913" cy="349026"/>
          </a:xfrm>
        </p:spPr>
        <p:txBody>
          <a:bodyPr/>
          <a:lstStyle/>
          <a:p>
            <a:r>
              <a:rPr lang="en-US" sz="1050" dirty="0"/>
              <a:t> In 1983, fifty companies owned 90 percent of U.S. media. By 2021, just four conglomerates controlled the same percentage of U.S. media outlets.</a:t>
            </a:r>
          </a:p>
          <a:p>
            <a:br>
              <a:rPr lang="en-US" sz="800" dirty="0"/>
            </a:br>
            <a:endParaRPr lang="en-US" sz="800" dirty="0"/>
          </a:p>
        </p:txBody>
      </p:sp>
      <p:pic>
        <p:nvPicPr>
          <p:cNvPr id="2" name="Picture 1" descr="A diagram demonstrates the decline in number of media companies within the U.S. On the left, there are 50 small TVs in a 10 by 5 table, labeled “1983: 90% of media, 50 companies”. On the right are four large screen TVs labeled “Comcast”, “Disney”, “ViacomCBS”, and “Warner Bros. Discovery”." title="Figure 8.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588" y="647700"/>
            <a:ext cx="8061511" cy="5289610"/>
          </a:xfrm>
          <a:prstGeom prst="rect">
            <a:avLst/>
          </a:prstGeom>
        </p:spPr>
      </p:pic>
    </p:spTree>
    <p:extLst>
      <p:ext uri="{BB962C8B-B14F-4D97-AF65-F5344CB8AC3E}">
        <p14:creationId xmlns:p14="http://schemas.microsoft.com/office/powerpoint/2010/main" val="1347572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D849700B-E0C4-5F42-B46E-62CF469B9F92}"/>
              </a:ext>
            </a:extLst>
          </p:cNvPr>
          <p:cNvSpPr/>
          <p:nvPr/>
        </p:nvSpPr>
        <p:spPr>
          <a:xfrm>
            <a:off x="947963" y="366541"/>
            <a:ext cx="7248074" cy="615553"/>
          </a:xfrm>
          <a:prstGeom prst="rect">
            <a:avLst/>
          </a:prstGeom>
        </p:spPr>
        <p:txBody>
          <a:bodyPr wrap="none">
            <a:spAutoFit/>
          </a:bodyPr>
          <a:lstStyle/>
          <a:p>
            <a:r>
              <a:rPr lang="en-US" altLang="en-US" sz="3400" b="1" kern="1200" dirty="0">
                <a:solidFill>
                  <a:prstClr val="black"/>
                </a:solidFill>
                <a:latin typeface="Calibri"/>
                <a:ea typeface="ＭＳ Ｐゴシック" panose="020B0600070205080204" pitchFamily="34" charset="-128"/>
              </a:rPr>
              <a:t>History of Major Media Formats, Part 1</a:t>
            </a:r>
            <a:endParaRPr lang="en-US" sz="3400" dirty="0"/>
          </a:p>
        </p:txBody>
      </p:sp>
      <p:sp>
        <p:nvSpPr>
          <p:cNvPr id="3" name="Rectangle 2">
            <a:extLst>
              <a:ext uri="{FF2B5EF4-FFF2-40B4-BE49-F238E27FC236}">
                <a16:creationId xmlns:a16="http://schemas.microsoft.com/office/drawing/2014/main" id="{C5173769-02FA-CA4E-A121-D94338302D36}"/>
              </a:ext>
            </a:extLst>
          </p:cNvPr>
          <p:cNvSpPr/>
          <p:nvPr/>
        </p:nvSpPr>
        <p:spPr>
          <a:xfrm>
            <a:off x="500974" y="1601608"/>
            <a:ext cx="8142051" cy="2123658"/>
          </a:xfrm>
          <a:prstGeom prst="rect">
            <a:avLst/>
          </a:prstGeom>
        </p:spPr>
        <p:txBody>
          <a:bodyPr wrap="square">
            <a:spAutoFit/>
          </a:bodyPr>
          <a:lstStyle/>
          <a:p>
            <a:pPr marL="342900" lvl="0" indent="-342900" defTabSz="457200" fontAlgn="base">
              <a:spcBef>
                <a:spcPct val="20000"/>
              </a:spcBef>
              <a:spcAft>
                <a:spcPct val="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Early news was presented to local populations through the </a:t>
            </a: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print</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 </a:t>
            </a: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press</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 After the Revolutionary War, a change occurred and the nation moved into the party press era, in which partisanship and political party loyalty dominated the choice of editorial content. Between 1830 and 1860, machines and manufacturing made the production of newspapers faster and cheaper.</a:t>
            </a:r>
          </a:p>
        </p:txBody>
      </p:sp>
    </p:spTree>
    <p:extLst>
      <p:ext uri="{BB962C8B-B14F-4D97-AF65-F5344CB8AC3E}">
        <p14:creationId xmlns:p14="http://schemas.microsoft.com/office/powerpoint/2010/main" val="3461211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normAutofit/>
          </a:bodyPr>
          <a:lstStyle/>
          <a:p>
            <a:r>
              <a:rPr lang="en-US" b="1" dirty="0"/>
              <a:t>Figure 8.6</a:t>
            </a:r>
          </a:p>
        </p:txBody>
      </p:sp>
      <p:sp>
        <p:nvSpPr>
          <p:cNvPr id="7" name="Text"/>
          <p:cNvSpPr>
            <a:spLocks noGrp="1"/>
          </p:cNvSpPr>
          <p:nvPr>
            <p:ph type="body" sz="quarter" idx="14"/>
          </p:nvPr>
        </p:nvSpPr>
        <p:spPr/>
        <p:txBody>
          <a:bodyPr>
            <a:normAutofit/>
          </a:bodyPr>
          <a:lstStyle/>
          <a:p>
            <a:r>
              <a:rPr lang="en-US" sz="1600" dirty="0"/>
              <a:t>Benjamin Day </a:t>
            </a:r>
            <a:r>
              <a:rPr lang="en-US" sz="1600" dirty="0">
                <a:solidFill>
                  <a:srgbClr val="6CB255"/>
                </a:solidFill>
              </a:rPr>
              <a:t>(a)</a:t>
            </a:r>
            <a:r>
              <a:rPr lang="en-US" sz="1600" dirty="0"/>
              <a:t> founded the first U.S. penny press, </a:t>
            </a:r>
            <a:r>
              <a:rPr lang="en-US" sz="1600" i="1" dirty="0"/>
              <a:t>The Sun</a:t>
            </a:r>
            <a:r>
              <a:rPr lang="en-US" sz="1600" dirty="0"/>
              <a:t>, in 1833. </a:t>
            </a:r>
            <a:r>
              <a:rPr lang="en-US" sz="1600" i="1" dirty="0"/>
              <a:t>The Sun</a:t>
            </a:r>
            <a:r>
              <a:rPr lang="en-US" sz="1600" dirty="0"/>
              <a:t>, whose front page from November 26, 1834, is shown above </a:t>
            </a:r>
            <a:r>
              <a:rPr lang="en-US" sz="1600" dirty="0">
                <a:solidFill>
                  <a:srgbClr val="6CB255"/>
                </a:solidFill>
              </a:rPr>
              <a:t>(b)</a:t>
            </a:r>
            <a:r>
              <a:rPr lang="en-US" sz="1600" dirty="0"/>
              <a:t>, was a morning newspaper published in New York from 1833 to 1950.</a:t>
            </a:r>
          </a:p>
        </p:txBody>
      </p:sp>
      <p:pic>
        <p:nvPicPr>
          <p:cNvPr id="2" name="Figure" descr="Image A is of Benjamin Day seated. Image B is of a newspaper titled “The Sun”."/>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1814" r="-31814"/>
          <a:stretch>
            <a:fillRect/>
          </a:stretch>
        </p:blipFill>
        <p:spPr/>
      </p:pic>
    </p:spTree>
    <p:extLst>
      <p:ext uri="{BB962C8B-B14F-4D97-AF65-F5344CB8AC3E}">
        <p14:creationId xmlns:p14="http://schemas.microsoft.com/office/powerpoint/2010/main" val="1996198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D6193B91-9714-A246-9FDA-64F1E6C8F20F}"/>
              </a:ext>
            </a:extLst>
          </p:cNvPr>
          <p:cNvSpPr/>
          <p:nvPr/>
        </p:nvSpPr>
        <p:spPr>
          <a:xfrm>
            <a:off x="942898" y="366541"/>
            <a:ext cx="7258205" cy="615553"/>
          </a:xfrm>
          <a:prstGeom prst="rect">
            <a:avLst/>
          </a:prstGeom>
        </p:spPr>
        <p:txBody>
          <a:bodyPr wrap="none">
            <a:spAutoFit/>
          </a:bodyPr>
          <a:lstStyle/>
          <a:p>
            <a:r>
              <a:rPr lang="en-US" altLang="en-US" sz="3400" b="1" kern="1200" dirty="0">
                <a:solidFill>
                  <a:prstClr val="black"/>
                </a:solidFill>
                <a:latin typeface="Calibri"/>
                <a:ea typeface="ＭＳ Ｐゴシック" panose="020B0600070205080204" pitchFamily="34" charset="-128"/>
              </a:rPr>
              <a:t>History of Major Media Formats, Part 2</a:t>
            </a:r>
            <a:endParaRPr lang="en-US" sz="3400" dirty="0"/>
          </a:p>
        </p:txBody>
      </p:sp>
      <p:sp>
        <p:nvSpPr>
          <p:cNvPr id="3" name="Rectangle 2">
            <a:extLst>
              <a:ext uri="{FF2B5EF4-FFF2-40B4-BE49-F238E27FC236}">
                <a16:creationId xmlns:a16="http://schemas.microsoft.com/office/drawing/2014/main" id="{76E9B493-68E7-0A46-A4F3-B19C39E0498F}"/>
              </a:ext>
            </a:extLst>
          </p:cNvPr>
          <p:cNvSpPr/>
          <p:nvPr/>
        </p:nvSpPr>
        <p:spPr>
          <a:xfrm>
            <a:off x="505838" y="1364192"/>
            <a:ext cx="8219873" cy="3293209"/>
          </a:xfrm>
          <a:prstGeom prst="rect">
            <a:avLst/>
          </a:prstGeom>
        </p:spPr>
        <p:txBody>
          <a:bodyPr wrap="square">
            <a:spAutoFit/>
          </a:bodyPr>
          <a:lstStyle/>
          <a:p>
            <a:pPr marL="342900" lvl="0" indent="-342900" defTabSz="457200" fontAlgn="base">
              <a:spcBef>
                <a:spcPct val="0"/>
              </a:spcBef>
              <a:spcAft>
                <a:spcPts val="1200"/>
              </a:spcAft>
              <a:buClrTx/>
              <a:buFont typeface="Arial" panose="020B0604020202020204" pitchFamily="34" charset="0"/>
              <a:buChar char="•"/>
            </a:pP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Radio</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 news made its appearance in the 1920s. The proliferation of the radio brought communications to rural America. Politicians realized that the medium offered a means of reaching the public in a personal way.</a:t>
            </a:r>
          </a:p>
          <a:p>
            <a:pPr marL="800100" lvl="1"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World War II changed radio news forever. The need and desire for frequent news updates about the war made newspapers, with their once-a-day printing, too slow. People wanted to know what was happening, and they wanted to know immediately.</a:t>
            </a:r>
          </a:p>
        </p:txBody>
      </p:sp>
    </p:spTree>
    <p:extLst>
      <p:ext uri="{BB962C8B-B14F-4D97-AF65-F5344CB8AC3E}">
        <p14:creationId xmlns:p14="http://schemas.microsoft.com/office/powerpoint/2010/main" val="3069137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8.7</a:t>
            </a:r>
          </a:p>
        </p:txBody>
      </p:sp>
      <p:sp>
        <p:nvSpPr>
          <p:cNvPr id="7" name="Text"/>
          <p:cNvSpPr>
            <a:spLocks noGrp="1"/>
          </p:cNvSpPr>
          <p:nvPr>
            <p:ph type="body" sz="quarter" idx="14"/>
          </p:nvPr>
        </p:nvSpPr>
        <p:spPr/>
        <p:txBody>
          <a:bodyPr>
            <a:normAutofit/>
          </a:bodyPr>
          <a:lstStyle/>
          <a:p>
            <a:r>
              <a:rPr lang="en-US" sz="1600" dirty="0"/>
              <a:t>The “golden age of radio” included comedy shows like </a:t>
            </a:r>
            <a:r>
              <a:rPr lang="en-US" sz="1600" i="1" dirty="0"/>
              <a:t>Easy Aces</a:t>
            </a:r>
            <a:r>
              <a:rPr lang="en-US" sz="1600" dirty="0"/>
              <a:t>, starring Goodman and Jane Ace </a:t>
            </a:r>
            <a:r>
              <a:rPr lang="en-US" sz="1600" dirty="0">
                <a:solidFill>
                  <a:srgbClr val="6CB255"/>
                </a:solidFill>
              </a:rPr>
              <a:t>(a)</a:t>
            </a:r>
            <a:r>
              <a:rPr lang="en-US" sz="1600" dirty="0"/>
              <a:t>, and </a:t>
            </a:r>
            <a:r>
              <a:rPr lang="en-US" sz="1600" i="1" dirty="0"/>
              <a:t>Amos ’n’ Andy</a:t>
            </a:r>
            <a:r>
              <a:rPr lang="en-US" sz="1600" dirty="0"/>
              <a:t>, starring Freeman </a:t>
            </a:r>
            <a:r>
              <a:rPr lang="en-US" sz="1600" dirty="0" err="1"/>
              <a:t>Gosden</a:t>
            </a:r>
            <a:r>
              <a:rPr lang="en-US" sz="1600" dirty="0"/>
              <a:t> and Charles </a:t>
            </a:r>
            <a:r>
              <a:rPr lang="en-US" sz="1600" dirty="0" err="1"/>
              <a:t>Correll</a:t>
            </a:r>
            <a:r>
              <a:rPr lang="en-US" sz="1600" dirty="0"/>
              <a:t>, shown here celebrating their program’s tenth anniversary in 1938 </a:t>
            </a:r>
            <a:r>
              <a:rPr lang="en-US" sz="1600" dirty="0">
                <a:solidFill>
                  <a:srgbClr val="6CB255"/>
                </a:solidFill>
              </a:rPr>
              <a:t>(b)</a:t>
            </a:r>
            <a:r>
              <a:rPr lang="en-US" sz="1600" dirty="0"/>
              <a:t>. These programs helped amuse families during the dark years of the Depression.</a:t>
            </a:r>
          </a:p>
        </p:txBody>
      </p:sp>
      <p:pic>
        <p:nvPicPr>
          <p:cNvPr id="2" name="Figure" descr="Image A is of Goodman and Jane Ace. Image B is of Freeman Gosden and Charles Correll cutting a cake with a shovel."/>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7059" r="-7059"/>
          <a:stretch>
            <a:fillRect/>
          </a:stretch>
        </p:blipFill>
        <p:spPr/>
      </p:pic>
    </p:spTree>
    <p:extLst>
      <p:ext uri="{BB962C8B-B14F-4D97-AF65-F5344CB8AC3E}">
        <p14:creationId xmlns:p14="http://schemas.microsoft.com/office/powerpoint/2010/main" val="2793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8.8</a:t>
            </a:r>
          </a:p>
        </p:txBody>
      </p:sp>
      <p:sp>
        <p:nvSpPr>
          <p:cNvPr id="7" name="Text"/>
          <p:cNvSpPr>
            <a:spLocks noGrp="1"/>
          </p:cNvSpPr>
          <p:nvPr>
            <p:ph type="body" sz="quarter" idx="14"/>
          </p:nvPr>
        </p:nvSpPr>
        <p:spPr/>
        <p:txBody>
          <a:bodyPr>
            <a:normAutofit/>
          </a:bodyPr>
          <a:lstStyle/>
          <a:p>
            <a:r>
              <a:rPr lang="en-US" sz="1600" dirty="0"/>
              <a:t>As radio listenership became widespread in the 1930s </a:t>
            </a:r>
            <a:r>
              <a:rPr lang="en-US" sz="1600" dirty="0">
                <a:solidFill>
                  <a:srgbClr val="6CB255"/>
                </a:solidFill>
              </a:rPr>
              <a:t>(a)</a:t>
            </a:r>
            <a:r>
              <a:rPr lang="en-US" sz="1600" dirty="0"/>
              <a:t>, President Franklin D. Roosevelt took advantage of this new medium to broadcast his “fireside chats” and bring ordinary Americans into the president’s world </a:t>
            </a:r>
            <a:r>
              <a:rPr lang="en-US" sz="1600" dirty="0">
                <a:solidFill>
                  <a:srgbClr val="6CB255"/>
                </a:solidFill>
              </a:rPr>
              <a:t>(b)</a:t>
            </a:r>
            <a:r>
              <a:rPr lang="en-US" sz="1600" dirty="0"/>
              <a:t>. (credit a: modification of work by George W. Ackerman; credit b: modification of work by the Library of Congress)</a:t>
            </a:r>
          </a:p>
        </p:txBody>
      </p:sp>
      <p:pic>
        <p:nvPicPr>
          <p:cNvPr id="2" name="Figure" descr="Image A is of three people sitting in rocking chairs with a radio in front of them. Image B is of Franklin D. Roosevelt seated with several microphones on a desk in front of him."/>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3038" b="-3038"/>
          <a:stretch>
            <a:fillRect/>
          </a:stretch>
        </p:blipFill>
        <p:spPr/>
      </p:pic>
    </p:spTree>
    <p:extLst>
      <p:ext uri="{BB962C8B-B14F-4D97-AF65-F5344CB8AC3E}">
        <p14:creationId xmlns:p14="http://schemas.microsoft.com/office/powerpoint/2010/main" val="1838455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89B849BB-D868-D848-8CE3-E7893F6C18E3}"/>
              </a:ext>
            </a:extLst>
          </p:cNvPr>
          <p:cNvSpPr/>
          <p:nvPr/>
        </p:nvSpPr>
        <p:spPr>
          <a:xfrm>
            <a:off x="591840" y="366541"/>
            <a:ext cx="7960321" cy="615553"/>
          </a:xfrm>
          <a:prstGeom prst="rect">
            <a:avLst/>
          </a:prstGeom>
        </p:spPr>
        <p:txBody>
          <a:bodyPr wrap="none">
            <a:spAutoFit/>
          </a:bodyPr>
          <a:lstStyle/>
          <a:p>
            <a:r>
              <a:rPr lang="en-US" altLang="en-US" sz="3400" b="1" kern="1200" dirty="0">
                <a:solidFill>
                  <a:prstClr val="black"/>
                </a:solidFill>
                <a:latin typeface="Calibri"/>
                <a:ea typeface="ＭＳ Ｐゴシック" panose="020B0600070205080204" pitchFamily="34" charset="-128"/>
              </a:rPr>
              <a:t>History of the Major Media Formats, Part 3</a:t>
            </a:r>
            <a:endParaRPr lang="en-US" sz="3400" dirty="0"/>
          </a:p>
        </p:txBody>
      </p:sp>
      <p:sp>
        <p:nvSpPr>
          <p:cNvPr id="3" name="Rectangle 2">
            <a:extLst>
              <a:ext uri="{FF2B5EF4-FFF2-40B4-BE49-F238E27FC236}">
                <a16:creationId xmlns:a16="http://schemas.microsoft.com/office/drawing/2014/main" id="{0814F8E6-7436-C64A-9911-76E628F93B0A}"/>
              </a:ext>
            </a:extLst>
          </p:cNvPr>
          <p:cNvSpPr/>
          <p:nvPr/>
        </p:nvSpPr>
        <p:spPr>
          <a:xfrm>
            <a:off x="591839" y="1323441"/>
            <a:ext cx="7960321" cy="4124206"/>
          </a:xfrm>
          <a:prstGeom prst="rect">
            <a:avLst/>
          </a:prstGeom>
        </p:spPr>
        <p:txBody>
          <a:bodyPr wrap="square">
            <a:spAutoFit/>
          </a:bodyPr>
          <a:lstStyle/>
          <a:p>
            <a:pPr marL="342900" lvl="0" indent="-342900" defTabSz="457200" fontAlgn="base">
              <a:spcBef>
                <a:spcPct val="0"/>
              </a:spcBef>
              <a:spcAft>
                <a:spcPts val="1200"/>
              </a:spcAft>
              <a:buClrTx/>
              <a:buFont typeface="Arial" panose="020B0604020202020204" pitchFamily="34" charset="0"/>
              <a:buChar char="•"/>
            </a:pP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Television</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 combined the best attributes of radio and photos and changed media forever. The first official broadcast in the United States was President Franklin Roosevelt’s speech at the opening of the 1939 World’s Fair in New York.</a:t>
            </a:r>
          </a:p>
          <a:p>
            <a:pPr marL="342900" lvl="0"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Even more than radio, television allowed politicians to connect with voters in deeper ways. Before television, few voters were able to see a president or candidate speak or answer questions in an interview. </a:t>
            </a:r>
          </a:p>
          <a:p>
            <a:pPr marL="342900" lvl="0"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Presidents often use television to reach citizens and gain support for policies, and to inspire and comfort the populace during national emergencies. </a:t>
            </a:r>
          </a:p>
        </p:txBody>
      </p:sp>
    </p:spTree>
    <p:extLst>
      <p:ext uri="{BB962C8B-B14F-4D97-AF65-F5344CB8AC3E}">
        <p14:creationId xmlns:p14="http://schemas.microsoft.com/office/powerpoint/2010/main" val="2810290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8.9</a:t>
            </a:r>
          </a:p>
        </p:txBody>
      </p:sp>
      <p:sp>
        <p:nvSpPr>
          <p:cNvPr id="7" name="Text"/>
          <p:cNvSpPr>
            <a:spLocks noGrp="1"/>
          </p:cNvSpPr>
          <p:nvPr>
            <p:ph type="body" sz="quarter" idx="14"/>
          </p:nvPr>
        </p:nvSpPr>
        <p:spPr/>
        <p:txBody>
          <a:bodyPr>
            <a:normAutofit/>
          </a:bodyPr>
          <a:lstStyle/>
          <a:p>
            <a:r>
              <a:rPr lang="en-US" sz="1600" dirty="0"/>
              <a:t>Edward R. Murrow’s move to television increased the visibility of network news. In    </a:t>
            </a:r>
            <a:r>
              <a:rPr lang="en-US" sz="1600" i="1" dirty="0"/>
              <a:t>The</a:t>
            </a:r>
            <a:r>
              <a:rPr lang="en-US" sz="1600" dirty="0"/>
              <a:t> </a:t>
            </a:r>
            <a:r>
              <a:rPr lang="en-US" sz="1600" i="1" dirty="0"/>
              <a:t>Challenge of Ideas </a:t>
            </a:r>
            <a:r>
              <a:rPr lang="en-US" sz="1600" dirty="0"/>
              <a:t>(1961) pictured above, Murrow discussed the Cold War between the Soviet Union and the United States alongside films stars such as John Wayne.</a:t>
            </a:r>
          </a:p>
        </p:txBody>
      </p:sp>
      <p:pic>
        <p:nvPicPr>
          <p:cNvPr id="2" name="Figure" descr="An image of Edward R. Murrow seated behind a desk."/>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6441" r="-36441"/>
          <a:stretch>
            <a:fillRect/>
          </a:stretch>
        </p:blipFill>
        <p:spPr/>
      </p:pic>
    </p:spTree>
    <p:extLst>
      <p:ext uri="{BB962C8B-B14F-4D97-AF65-F5344CB8AC3E}">
        <p14:creationId xmlns:p14="http://schemas.microsoft.com/office/powerpoint/2010/main" val="156710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8.10</a:t>
            </a:r>
          </a:p>
        </p:txBody>
      </p:sp>
      <p:sp>
        <p:nvSpPr>
          <p:cNvPr id="7" name="Text"/>
          <p:cNvSpPr>
            <a:spLocks noGrp="1"/>
          </p:cNvSpPr>
          <p:nvPr>
            <p:ph type="body" sz="quarter" idx="14"/>
          </p:nvPr>
        </p:nvSpPr>
        <p:spPr/>
        <p:txBody>
          <a:bodyPr>
            <a:noAutofit/>
          </a:bodyPr>
          <a:lstStyle/>
          <a:p>
            <a:r>
              <a:rPr lang="en-US" sz="1250" dirty="0"/>
              <a:t>Presidents Clinton and Bush were both called upon to calm the people after mass killings. In April 1996, President Bill Clinton and First Lady Hillary Rodham Clinton lay flowers at the site of the former Alfred P. </a:t>
            </a:r>
            <a:r>
              <a:rPr lang="en-US" sz="1250" dirty="0" err="1"/>
              <a:t>Murrah</a:t>
            </a:r>
            <a:r>
              <a:rPr lang="en-US" sz="1250" dirty="0"/>
              <a:t> federal building just before the one-year anniversary of the Oklahoma City bombing </a:t>
            </a:r>
            <a:r>
              <a:rPr lang="en-US" sz="1250" dirty="0">
                <a:solidFill>
                  <a:srgbClr val="6CB255"/>
                </a:solidFill>
              </a:rPr>
              <a:t>(a)</a:t>
            </a:r>
            <a:r>
              <a:rPr lang="en-US" sz="1250" dirty="0"/>
              <a:t>. Three days after the terrorist attacks of 9/11 brought down the World Trade Center in New York City, George W. Bush declares to the crowd, “I can hear you! The rest of the world hears you! And the people . . . and the people who knocked these buildings down will hear all of us soon!” </a:t>
            </a:r>
            <a:r>
              <a:rPr lang="en-US" sz="1250" dirty="0">
                <a:solidFill>
                  <a:srgbClr val="6CB255"/>
                </a:solidFill>
              </a:rPr>
              <a:t>(b)</a:t>
            </a:r>
          </a:p>
        </p:txBody>
      </p:sp>
      <p:pic>
        <p:nvPicPr>
          <p:cNvPr id="2" name="Figure" descr="Image A is of Hillary and Bill Clinton laying flowers on a memorial site, surrounded by several children. Image B is of George W. Bush standing on a pile of rubble with a bullhorn to his mouth, surrounded by several people."/>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10120" b="-10120"/>
          <a:stretch>
            <a:fillRect/>
          </a:stretch>
        </p:blipFill>
        <p:spPr/>
      </p:pic>
    </p:spTree>
    <p:extLst>
      <p:ext uri="{BB962C8B-B14F-4D97-AF65-F5344CB8AC3E}">
        <p14:creationId xmlns:p14="http://schemas.microsoft.com/office/powerpoint/2010/main" val="991745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2A0FD959-15A2-1849-86D4-F43326710FCC}"/>
              </a:ext>
            </a:extLst>
          </p:cNvPr>
          <p:cNvSpPr/>
          <p:nvPr/>
        </p:nvSpPr>
        <p:spPr>
          <a:xfrm>
            <a:off x="2485980" y="366542"/>
            <a:ext cx="4172040" cy="707886"/>
          </a:xfrm>
          <a:prstGeom prst="rect">
            <a:avLst/>
          </a:prstGeom>
        </p:spPr>
        <p:txBody>
          <a:bodyPr wrap="none">
            <a:spAutoFit/>
          </a:bodyPr>
          <a:lstStyle/>
          <a:p>
            <a:r>
              <a:rPr lang="en-US" altLang="en-US" sz="4000" b="1" kern="1200" dirty="0">
                <a:solidFill>
                  <a:prstClr val="black"/>
                </a:solidFill>
                <a:latin typeface="Calibri"/>
                <a:ea typeface="ＭＳ Ｐゴシック" panose="020B0600070205080204" pitchFamily="34" charset="-128"/>
              </a:rPr>
              <a:t>New Media Trends</a:t>
            </a:r>
            <a:endParaRPr lang="en-US" dirty="0"/>
          </a:p>
        </p:txBody>
      </p:sp>
      <p:sp>
        <p:nvSpPr>
          <p:cNvPr id="3" name="Rectangle 2">
            <a:extLst>
              <a:ext uri="{FF2B5EF4-FFF2-40B4-BE49-F238E27FC236}">
                <a16:creationId xmlns:a16="http://schemas.microsoft.com/office/drawing/2014/main" id="{1F162378-E8E1-044A-A9F1-3A30530FEE6B}"/>
              </a:ext>
            </a:extLst>
          </p:cNvPr>
          <p:cNvSpPr/>
          <p:nvPr/>
        </p:nvSpPr>
        <p:spPr>
          <a:xfrm>
            <a:off x="452336" y="1628148"/>
            <a:ext cx="8239328" cy="2354491"/>
          </a:xfrm>
          <a:prstGeom prst="rect">
            <a:avLst/>
          </a:prstGeom>
        </p:spPr>
        <p:txBody>
          <a:bodyPr wrap="square">
            <a:spAutoFit/>
          </a:bodyPr>
          <a:lstStyle/>
          <a:p>
            <a:pPr marL="342900" lvl="0" indent="-342900" defTabSz="457200">
              <a:spcAft>
                <a:spcPts val="1800"/>
              </a:spcAft>
              <a:buClrTx/>
              <a:buFont typeface="Arial" panose="020B0604020202020204" pitchFamily="34" charset="0"/>
              <a:buChar char="•"/>
              <a:defRPr/>
            </a:pPr>
            <a:r>
              <a:rPr lang="en-US" sz="2200" kern="1200" dirty="0">
                <a:solidFill>
                  <a:prstClr val="black"/>
                </a:solidFill>
                <a:latin typeface="Calibri" panose="020F0502020204030204" pitchFamily="34" charset="0"/>
                <a:ea typeface="ＭＳ Ｐゴシック" panose="020B0600070205080204" pitchFamily="34" charset="-128"/>
                <a:cs typeface="+mn-cs"/>
              </a:rPr>
              <a:t>The introduction of </a:t>
            </a:r>
            <a:r>
              <a:rPr lang="en-US" sz="2200" i="1" kern="1200" dirty="0">
                <a:solidFill>
                  <a:prstClr val="black"/>
                </a:solidFill>
                <a:latin typeface="Calibri" panose="020F0502020204030204" pitchFamily="34" charset="0"/>
                <a:ea typeface="ＭＳ Ｐゴシック" panose="020B0600070205080204" pitchFamily="34" charset="-128"/>
                <a:cs typeface="+mn-cs"/>
              </a:rPr>
              <a:t>cable</a:t>
            </a:r>
            <a:r>
              <a:rPr lang="en-US" sz="2200" kern="1200" dirty="0">
                <a:solidFill>
                  <a:prstClr val="black"/>
                </a:solidFill>
                <a:latin typeface="Calibri" panose="020F0502020204030204" pitchFamily="34" charset="0"/>
                <a:ea typeface="ＭＳ Ｐゴシック" panose="020B0600070205080204" pitchFamily="34" charset="-128"/>
                <a:cs typeface="+mn-cs"/>
              </a:rPr>
              <a:t> and expansion of the </a:t>
            </a:r>
            <a:r>
              <a:rPr lang="en-US" sz="2200" i="1" kern="1200" dirty="0">
                <a:solidFill>
                  <a:prstClr val="black"/>
                </a:solidFill>
                <a:latin typeface="Calibri" panose="020F0502020204030204" pitchFamily="34" charset="0"/>
                <a:ea typeface="ＭＳ Ｐゴシック" panose="020B0600070205080204" pitchFamily="34" charset="-128"/>
                <a:cs typeface="+mn-cs"/>
              </a:rPr>
              <a:t>internet</a:t>
            </a:r>
            <a:r>
              <a:rPr lang="en-US" sz="2200" kern="1200" dirty="0">
                <a:solidFill>
                  <a:prstClr val="black"/>
                </a:solidFill>
                <a:latin typeface="Calibri" panose="020F0502020204030204" pitchFamily="34" charset="0"/>
                <a:ea typeface="ＭＳ Ｐゴシック" panose="020B0600070205080204" pitchFamily="34" charset="-128"/>
                <a:cs typeface="+mn-cs"/>
              </a:rPr>
              <a:t> have inundated the public with information. Alternatives to watching network news now exist and the public can avoid politics altogether if they choose.</a:t>
            </a:r>
          </a:p>
          <a:p>
            <a:pPr marL="342900" lvl="0" indent="-342900" defTabSz="457200">
              <a:spcAft>
                <a:spcPts val="1800"/>
              </a:spcAft>
              <a:buClrTx/>
              <a:buFont typeface="Arial" panose="020B0604020202020204" pitchFamily="34" charset="0"/>
              <a:buChar char="•"/>
              <a:defRPr/>
            </a:pPr>
            <a:r>
              <a:rPr lang="en-US" sz="2200" i="1" kern="1200" dirty="0">
                <a:solidFill>
                  <a:prstClr val="black"/>
                </a:solidFill>
                <a:latin typeface="Calibri" panose="020F0502020204030204" pitchFamily="34" charset="0"/>
                <a:ea typeface="ＭＳ Ｐゴシック" panose="020B0600070205080204" pitchFamily="34" charset="-128"/>
                <a:cs typeface="+mn-cs"/>
              </a:rPr>
              <a:t>Social media </a:t>
            </a:r>
            <a:r>
              <a:rPr lang="en-US" sz="2200" kern="1200" dirty="0">
                <a:solidFill>
                  <a:prstClr val="black"/>
                </a:solidFill>
                <a:latin typeface="Calibri" panose="020F0502020204030204" pitchFamily="34" charset="0"/>
                <a:ea typeface="ＭＳ Ｐゴシック" panose="020B0600070205080204" pitchFamily="34" charset="-128"/>
                <a:cs typeface="+mn-cs"/>
              </a:rPr>
              <a:t>is credited as one of the primary factors in the successful election campaign of President Barack Obama. </a:t>
            </a:r>
          </a:p>
        </p:txBody>
      </p:sp>
    </p:spTree>
    <p:extLst>
      <p:ext uri="{BB962C8B-B14F-4D97-AF65-F5344CB8AC3E}">
        <p14:creationId xmlns:p14="http://schemas.microsoft.com/office/powerpoint/2010/main" val="1565511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8.11</a:t>
            </a:r>
          </a:p>
        </p:txBody>
      </p:sp>
      <p:sp>
        <p:nvSpPr>
          <p:cNvPr id="6" name="Footer">
            <a:extLst>
              <a:ext uri="{FF2B5EF4-FFF2-40B4-BE49-F238E27FC236}">
                <a16:creationId xmlns:a16="http://schemas.microsoft.com/office/drawing/2014/main" id="{C842EA6B-DC06-493E-A432-64831B9780B9}"/>
              </a:ext>
            </a:extLst>
          </p:cNvPr>
          <p:cNvSpPr>
            <a:spLocks noGrp="1"/>
          </p:cNvSpPr>
          <p:nvPr>
            <p:ph type="ftr" sz="quarter" idx="11"/>
          </p:nvPr>
        </p:nvSpPr>
        <p:spPr>
          <a:xfrm>
            <a:off x="457199" y="6492875"/>
            <a:ext cx="7790873" cy="283845"/>
          </a:xfrm>
        </p:spPr>
        <p:txBody>
          <a:bodyPr/>
          <a:lstStyle/>
          <a:p>
            <a:endParaRPr lang="en-US" sz="800" dirty="0"/>
          </a:p>
        </p:txBody>
      </p:sp>
      <p:sp>
        <p:nvSpPr>
          <p:cNvPr id="7" name="Text"/>
          <p:cNvSpPr>
            <a:spLocks noGrp="1"/>
          </p:cNvSpPr>
          <p:nvPr>
            <p:ph type="body" sz="quarter" idx="14"/>
          </p:nvPr>
        </p:nvSpPr>
        <p:spPr/>
        <p:txBody>
          <a:bodyPr>
            <a:normAutofit/>
          </a:bodyPr>
          <a:lstStyle/>
          <a:p>
            <a:r>
              <a:rPr lang="en-US" sz="1600" dirty="0"/>
              <a:t>In June 2009, Stephen Colbert of </a:t>
            </a:r>
            <a:r>
              <a:rPr lang="en-US" sz="1600" i="1" dirty="0"/>
              <a:t>The Colbert Report</a:t>
            </a:r>
            <a:r>
              <a:rPr lang="en-US" sz="1600" dirty="0"/>
              <a:t> took his soft news show on the road, heading to Iraq for a week. During the first episode, Colbert interviewed Ray </a:t>
            </a:r>
            <a:r>
              <a:rPr lang="en-US" sz="1600" dirty="0" err="1"/>
              <a:t>Odierno</a:t>
            </a:r>
            <a:r>
              <a:rPr lang="en-US" sz="1600" dirty="0"/>
              <a:t>, commanding general of the coalition forces stationed in Iraq. (credit: The U.S. Army)</a:t>
            </a:r>
          </a:p>
        </p:txBody>
      </p:sp>
      <p:pic>
        <p:nvPicPr>
          <p:cNvPr id="2" name="Figure" descr="An image of Stephen Colbert and Ray Odierno seated on opposite sides of a table, facing each othe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2054" r="-32054"/>
          <a:stretch>
            <a:fillRect/>
          </a:stretch>
        </p:blipFill>
        <p:spPr/>
      </p:pic>
    </p:spTree>
    <p:extLst>
      <p:ext uri="{BB962C8B-B14F-4D97-AF65-F5344CB8AC3E}">
        <p14:creationId xmlns:p14="http://schemas.microsoft.com/office/powerpoint/2010/main" val="1613455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E2C359BB-72C1-5441-829F-27A3BC2EF3C7}"/>
              </a:ext>
            </a:extLst>
          </p:cNvPr>
          <p:cNvSpPr/>
          <p:nvPr/>
        </p:nvSpPr>
        <p:spPr>
          <a:xfrm>
            <a:off x="194039" y="366542"/>
            <a:ext cx="8755923" cy="615553"/>
          </a:xfrm>
          <a:prstGeom prst="rect">
            <a:avLst/>
          </a:prstGeom>
        </p:spPr>
        <p:txBody>
          <a:bodyPr wrap="none">
            <a:spAutoFit/>
          </a:bodyPr>
          <a:lstStyle/>
          <a:p>
            <a:r>
              <a:rPr lang="en-US" altLang="en-US" sz="3400" b="1" kern="1200" dirty="0">
                <a:solidFill>
                  <a:prstClr val="black"/>
                </a:solidFill>
                <a:latin typeface="Calibri"/>
                <a:ea typeface="ＭＳ Ｐゴシック" panose="020B0600070205080204" pitchFamily="34" charset="-128"/>
              </a:rPr>
              <a:t>How Citizens Gain Information from the Media</a:t>
            </a:r>
            <a:endParaRPr lang="en-US" sz="3400" dirty="0"/>
          </a:p>
        </p:txBody>
      </p:sp>
      <p:sp>
        <p:nvSpPr>
          <p:cNvPr id="3" name="Rectangle 2">
            <a:extLst>
              <a:ext uri="{FF2B5EF4-FFF2-40B4-BE49-F238E27FC236}">
                <a16:creationId xmlns:a16="http://schemas.microsoft.com/office/drawing/2014/main" id="{14D08474-45DE-564E-ACC7-00401DC4723A}"/>
              </a:ext>
            </a:extLst>
          </p:cNvPr>
          <p:cNvSpPr/>
          <p:nvPr/>
        </p:nvSpPr>
        <p:spPr>
          <a:xfrm>
            <a:off x="194039" y="1197620"/>
            <a:ext cx="8755923" cy="4462760"/>
          </a:xfrm>
          <a:prstGeom prst="rect">
            <a:avLst/>
          </a:prstGeom>
        </p:spPr>
        <p:txBody>
          <a:bodyPr wrap="square">
            <a:spAutoFit/>
          </a:bodyPr>
          <a:lstStyle/>
          <a:p>
            <a:pPr marL="342900" lvl="0"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The availability of the internet and social media has moved some control of the message back into the hands of the president and candidates. Politicians can now connect to the electorate directly, bypassing journalists.</a:t>
            </a:r>
          </a:p>
          <a:p>
            <a:pPr marL="342900" lvl="0"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Social media, such as Facebook, has also placed journalism in the hands of citizens: citizen journalism occurs when citizens use their personal recording devices and cellphones to capture events and post them on the internet.</a:t>
            </a:r>
          </a:p>
          <a:p>
            <a:pPr marL="342900" lvl="0"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Preferred programming that is humorous attracts younger viewers and has demonstrated that news can win young viewers if delivered well. This “soft news” presents content in an entertaining and approachable manner.</a:t>
            </a:r>
          </a:p>
        </p:txBody>
      </p:sp>
    </p:spTree>
    <p:extLst>
      <p:ext uri="{BB962C8B-B14F-4D97-AF65-F5344CB8AC3E}">
        <p14:creationId xmlns:p14="http://schemas.microsoft.com/office/powerpoint/2010/main" val="3502268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7DCFEA2A-486A-8247-9934-09B5FFD22BB6}"/>
              </a:ext>
            </a:extLst>
          </p:cNvPr>
          <p:cNvSpPr/>
          <p:nvPr/>
        </p:nvSpPr>
        <p:spPr>
          <a:xfrm>
            <a:off x="1369745" y="366542"/>
            <a:ext cx="6404510" cy="707886"/>
          </a:xfrm>
          <a:prstGeom prst="rect">
            <a:avLst/>
          </a:prstGeom>
        </p:spPr>
        <p:txBody>
          <a:bodyPr wrap="none">
            <a:spAutoFit/>
          </a:bodyPr>
          <a:lstStyle/>
          <a:p>
            <a:r>
              <a:rPr lang="en-US" altLang="en-US" sz="4000" b="1" kern="1200" dirty="0">
                <a:solidFill>
                  <a:prstClr val="black"/>
                </a:solidFill>
                <a:latin typeface="Calibri"/>
                <a:ea typeface="ＭＳ Ｐゴシック" panose="020B0600070205080204" pitchFamily="34" charset="-128"/>
              </a:rPr>
              <a:t>Forms of News Coverage Bias</a:t>
            </a:r>
            <a:endParaRPr lang="en-US" dirty="0"/>
          </a:p>
        </p:txBody>
      </p:sp>
      <p:sp>
        <p:nvSpPr>
          <p:cNvPr id="3" name="Rectangle 2">
            <a:extLst>
              <a:ext uri="{FF2B5EF4-FFF2-40B4-BE49-F238E27FC236}">
                <a16:creationId xmlns:a16="http://schemas.microsoft.com/office/drawing/2014/main" id="{69CAD692-084D-AC48-9DC8-4538B79B2068}"/>
              </a:ext>
            </a:extLst>
          </p:cNvPr>
          <p:cNvSpPr/>
          <p:nvPr/>
        </p:nvSpPr>
        <p:spPr>
          <a:xfrm>
            <a:off x="573931" y="1424624"/>
            <a:ext cx="8161506" cy="3754874"/>
          </a:xfrm>
          <a:prstGeom prst="rect">
            <a:avLst/>
          </a:prstGeom>
        </p:spPr>
        <p:txBody>
          <a:bodyPr wrap="square">
            <a:spAutoFit/>
          </a:bodyPr>
          <a:lstStyle/>
          <a:p>
            <a:pPr lvl="0" defTabSz="457200">
              <a:spcAft>
                <a:spcPts val="1200"/>
              </a:spcAft>
              <a:buClrTx/>
              <a:defRPr/>
            </a:pPr>
            <a:r>
              <a:rPr lang="en-US" sz="2200" i="1" kern="1200" dirty="0">
                <a:solidFill>
                  <a:prstClr val="black"/>
                </a:solidFill>
                <a:latin typeface="Calibri" panose="020F0502020204030204" pitchFamily="34" charset="0"/>
                <a:ea typeface="ＭＳ Ｐゴシック" panose="020B0600070205080204" pitchFamily="34" charset="-128"/>
                <a:cs typeface="+mn-cs"/>
              </a:rPr>
              <a:t>Framing</a:t>
            </a:r>
            <a:r>
              <a:rPr lang="en-US" sz="2200" b="1" kern="1200" dirty="0">
                <a:solidFill>
                  <a:prstClr val="black"/>
                </a:solidFill>
                <a:latin typeface="Calibri" panose="020F0502020204030204" pitchFamily="34" charset="0"/>
                <a:ea typeface="ＭＳ Ｐゴシック" panose="020B0600070205080204" pitchFamily="34" charset="-128"/>
                <a:cs typeface="+mn-cs"/>
              </a:rPr>
              <a:t> </a:t>
            </a:r>
            <a:r>
              <a:rPr lang="en-US" sz="2200" kern="1200" dirty="0">
                <a:solidFill>
                  <a:prstClr val="black"/>
                </a:solidFill>
                <a:latin typeface="Calibri" panose="020F0502020204030204" pitchFamily="34" charset="0"/>
                <a:ea typeface="ＭＳ Ｐゴシック" panose="020B0600070205080204" pitchFamily="34" charset="-128"/>
                <a:cs typeface="+mn-cs"/>
              </a:rPr>
              <a:t>is the creation of a narrative or context for a news story. </a:t>
            </a:r>
          </a:p>
          <a:p>
            <a:pPr marL="342900" lvl="0" indent="-342900" defTabSz="457200">
              <a:spcAft>
                <a:spcPts val="1200"/>
              </a:spcAft>
              <a:buClrTx/>
              <a:buFont typeface="Arial" panose="020B0604020202020204" pitchFamily="34" charset="0"/>
              <a:buChar char="•"/>
              <a:defRPr/>
            </a:pPr>
            <a:r>
              <a:rPr lang="en-US" sz="2200" i="1" kern="1200" dirty="0">
                <a:solidFill>
                  <a:prstClr val="black"/>
                </a:solidFill>
                <a:latin typeface="Calibri" panose="020F0502020204030204" pitchFamily="34" charset="0"/>
                <a:ea typeface="ＭＳ Ｐゴシック" panose="020B0600070205080204" pitchFamily="34" charset="-128"/>
                <a:cs typeface="+mn-cs"/>
              </a:rPr>
              <a:t>Episodic framing </a:t>
            </a:r>
            <a:r>
              <a:rPr lang="en-US" sz="2200" kern="1200" dirty="0">
                <a:solidFill>
                  <a:prstClr val="black"/>
                </a:solidFill>
                <a:latin typeface="Calibri" panose="020F0502020204030204" pitchFamily="34" charset="0"/>
                <a:ea typeface="ＭＳ Ｐゴシック" panose="020B0600070205080204" pitchFamily="34" charset="-128"/>
                <a:cs typeface="+mn-cs"/>
              </a:rPr>
              <a:t>occurs when a story focuses on isolated details or specifics, rather than looking broadly at the whole issue. </a:t>
            </a:r>
          </a:p>
          <a:p>
            <a:pPr marL="342900" lvl="0" indent="-342900" defTabSz="457200">
              <a:spcAft>
                <a:spcPts val="1200"/>
              </a:spcAft>
              <a:buClrTx/>
              <a:buFont typeface="Arial" panose="020B0604020202020204" pitchFamily="34" charset="0"/>
              <a:buChar char="•"/>
              <a:defRPr/>
            </a:pPr>
            <a:r>
              <a:rPr lang="en-US" sz="2200" i="1" kern="1200" dirty="0">
                <a:solidFill>
                  <a:prstClr val="black"/>
                </a:solidFill>
                <a:latin typeface="Calibri" panose="020F0502020204030204" pitchFamily="34" charset="0"/>
                <a:ea typeface="ＭＳ Ｐゴシック" panose="020B0600070205080204" pitchFamily="34" charset="-128"/>
                <a:cs typeface="+mn-cs"/>
              </a:rPr>
              <a:t>Thematic framing </a:t>
            </a:r>
            <a:r>
              <a:rPr lang="en-US" sz="2200" kern="1200" dirty="0">
                <a:solidFill>
                  <a:prstClr val="black"/>
                </a:solidFill>
                <a:latin typeface="Calibri" panose="020F0502020204030204" pitchFamily="34" charset="0"/>
                <a:ea typeface="ＭＳ Ｐゴシック" panose="020B0600070205080204" pitchFamily="34" charset="-128"/>
                <a:cs typeface="+mn-cs"/>
              </a:rPr>
              <a:t>takes a broad look at an issue and skips the numbers or details.</a:t>
            </a:r>
          </a:p>
          <a:p>
            <a:pPr marL="342900" lvl="0" indent="-342900" defTabSz="457200">
              <a:spcAft>
                <a:spcPts val="1200"/>
              </a:spcAft>
              <a:buClrTx/>
              <a:buFont typeface="Arial" panose="020B0604020202020204" pitchFamily="34" charset="0"/>
              <a:buChar char="•"/>
              <a:defRPr/>
            </a:pPr>
            <a:r>
              <a:rPr lang="en-US" sz="2200" i="1" kern="1200" dirty="0">
                <a:solidFill>
                  <a:prstClr val="black"/>
                </a:solidFill>
                <a:latin typeface="Calibri" panose="020F0502020204030204" pitchFamily="34" charset="0"/>
                <a:ea typeface="ＭＳ Ｐゴシック" panose="020B0600070205080204" pitchFamily="34" charset="-128"/>
                <a:cs typeface="+mn-cs"/>
              </a:rPr>
              <a:t>Racial framing </a:t>
            </a:r>
            <a:r>
              <a:rPr lang="en-US" sz="2200" kern="1200" dirty="0">
                <a:solidFill>
                  <a:prstClr val="black"/>
                </a:solidFill>
                <a:latin typeface="Calibri" panose="020F0502020204030204" pitchFamily="34" charset="0"/>
                <a:ea typeface="ＭＳ Ｐゴシック" panose="020B0600070205080204" pitchFamily="34" charset="-128"/>
                <a:cs typeface="+mn-cs"/>
              </a:rPr>
              <a:t>occurs when a person or group is represented in a negative or assumptive light</a:t>
            </a:r>
            <a:endParaRPr lang="en-US" sz="2200" i="1" kern="1200" dirty="0">
              <a:solidFill>
                <a:prstClr val="black"/>
              </a:solidFill>
              <a:latin typeface="Calibri" panose="020F0502020204030204" pitchFamily="34" charset="0"/>
              <a:ea typeface="ＭＳ Ｐゴシック" panose="020B0600070205080204" pitchFamily="34" charset="-128"/>
              <a:cs typeface="+mn-cs"/>
            </a:endParaRPr>
          </a:p>
          <a:p>
            <a:pPr marL="342900" lvl="0" indent="-342900" defTabSz="457200">
              <a:spcAft>
                <a:spcPts val="1200"/>
              </a:spcAft>
              <a:buClrTx/>
              <a:buFont typeface="Arial" panose="020B0604020202020204" pitchFamily="34" charset="0"/>
              <a:buChar char="•"/>
              <a:defRPr/>
            </a:pPr>
            <a:r>
              <a:rPr lang="en-US" sz="2200" i="1" kern="1200" dirty="0">
                <a:solidFill>
                  <a:prstClr val="black"/>
                </a:solidFill>
                <a:latin typeface="Calibri" panose="020F0502020204030204" pitchFamily="34" charset="0"/>
                <a:ea typeface="ＭＳ Ｐゴシック" panose="020B0600070205080204" pitchFamily="34" charset="-128"/>
                <a:cs typeface="+mn-cs"/>
              </a:rPr>
              <a:t>Priming</a:t>
            </a:r>
            <a:r>
              <a:rPr lang="en-US" sz="2200" kern="1200" dirty="0">
                <a:solidFill>
                  <a:prstClr val="black"/>
                </a:solidFill>
                <a:latin typeface="Calibri" panose="020F0502020204030204" pitchFamily="34" charset="0"/>
                <a:ea typeface="ＭＳ Ｐゴシック" panose="020B0600070205080204" pitchFamily="34" charset="-128"/>
                <a:cs typeface="+mn-cs"/>
              </a:rPr>
              <a:t> is when media coverage predisposes the viewer or reader to a particular perspective on a subject or issue.</a:t>
            </a:r>
          </a:p>
        </p:txBody>
      </p:sp>
    </p:spTree>
    <p:extLst>
      <p:ext uri="{BB962C8B-B14F-4D97-AF65-F5344CB8AC3E}">
        <p14:creationId xmlns:p14="http://schemas.microsoft.com/office/powerpoint/2010/main" val="10377084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47ECC7FD-45E1-4348-AA88-DDBC953B89E2}"/>
              </a:ext>
            </a:extLst>
          </p:cNvPr>
          <p:cNvSpPr/>
          <p:nvPr/>
        </p:nvSpPr>
        <p:spPr>
          <a:xfrm>
            <a:off x="2697705" y="366541"/>
            <a:ext cx="3748590" cy="707886"/>
          </a:xfrm>
          <a:prstGeom prst="rect">
            <a:avLst/>
          </a:prstGeom>
        </p:spPr>
        <p:txBody>
          <a:bodyPr wrap="none">
            <a:spAutoFit/>
          </a:bodyPr>
          <a:lstStyle/>
          <a:p>
            <a:r>
              <a:rPr lang="en-US" altLang="en-US" sz="4000" b="1" kern="1200" dirty="0">
                <a:solidFill>
                  <a:prstClr val="black"/>
                </a:solidFill>
                <a:latin typeface="Calibri"/>
                <a:ea typeface="ＭＳ Ｐゴシック" panose="020B0600070205080204" pitchFamily="34" charset="-128"/>
              </a:rPr>
              <a:t>Media Influence </a:t>
            </a:r>
            <a:endParaRPr lang="en-US" dirty="0"/>
          </a:p>
        </p:txBody>
      </p:sp>
      <p:sp>
        <p:nvSpPr>
          <p:cNvPr id="3" name="Rectangle 2">
            <a:extLst>
              <a:ext uri="{FF2B5EF4-FFF2-40B4-BE49-F238E27FC236}">
                <a16:creationId xmlns:a16="http://schemas.microsoft.com/office/drawing/2014/main" id="{4BF3F154-B2E4-BD43-9B78-299D3EAE12AB}"/>
              </a:ext>
            </a:extLst>
          </p:cNvPr>
          <p:cNvSpPr/>
          <p:nvPr/>
        </p:nvSpPr>
        <p:spPr>
          <a:xfrm>
            <a:off x="700391" y="1599803"/>
            <a:ext cx="7908588" cy="3890296"/>
          </a:xfrm>
          <a:prstGeom prst="rect">
            <a:avLst/>
          </a:prstGeom>
        </p:spPr>
        <p:txBody>
          <a:bodyPr wrap="square">
            <a:spAutoFit/>
          </a:bodyPr>
          <a:lstStyle/>
          <a:p>
            <a:pPr lvl="0" defTabSz="457200" fontAlgn="base">
              <a:spcBef>
                <a:spcPct val="20000"/>
              </a:spcBef>
              <a:spcAft>
                <a:spcPct val="0"/>
              </a:spcAft>
              <a:buClrTx/>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The media choose what they want to discuss. This agenda-setting creates a reality for voters and politicians that affects the way people think, act, and vote. </a:t>
            </a:r>
          </a:p>
          <a:p>
            <a:pPr lvl="0" defTabSz="457200" fontAlgn="base">
              <a:spcBef>
                <a:spcPct val="20000"/>
              </a:spcBef>
              <a:spcAft>
                <a:spcPct val="0"/>
              </a:spcAft>
              <a:buClrTx/>
            </a:pPr>
            <a:endParaRPr lang="en-US" altLang="en-US" sz="2200" kern="1200" dirty="0">
              <a:solidFill>
                <a:prstClr val="black"/>
              </a:solidFill>
              <a:latin typeface="Calibri" panose="020F0502020204030204" pitchFamily="34" charset="0"/>
              <a:ea typeface="ＭＳ Ｐゴシック" panose="020B0600070205080204" pitchFamily="34" charset="-128"/>
              <a:cs typeface="+mn-cs"/>
            </a:endParaRPr>
          </a:p>
          <a:p>
            <a:pPr lvl="0" defTabSz="457200" fontAlgn="base">
              <a:spcBef>
                <a:spcPct val="20000"/>
              </a:spcBef>
              <a:spcAft>
                <a:spcPct val="0"/>
              </a:spcAft>
              <a:buClrTx/>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For example, regarding racial framing: </a:t>
            </a:r>
          </a:p>
          <a:p>
            <a:pPr marL="342900" lvl="0" indent="-342900" defTabSz="457200" fontAlgn="base">
              <a:spcBef>
                <a:spcPct val="20000"/>
              </a:spcBef>
              <a:spcAft>
                <a:spcPct val="0"/>
              </a:spcAft>
              <a:buClrTx/>
              <a:buFont typeface="Arial" charset="0"/>
              <a:buChar char="•"/>
            </a:pPr>
            <a:r>
              <a:rPr lang="en-US" sz="2000" dirty="0"/>
              <a:t>When survey respondents were shown a story of a White unemployed individual, 71 percent listed unemployment as one of the top three problems facing the United States.</a:t>
            </a:r>
          </a:p>
          <a:p>
            <a:pPr marL="342900" lvl="0" indent="-342900" defTabSz="457200" fontAlgn="base">
              <a:spcBef>
                <a:spcPct val="20000"/>
              </a:spcBef>
              <a:spcAft>
                <a:spcPct val="0"/>
              </a:spcAft>
              <a:buClrTx/>
              <a:buFont typeface="Arial" charset="0"/>
              <a:buChar char="•"/>
            </a:pPr>
            <a:r>
              <a:rPr lang="en-US" sz="2000" dirty="0"/>
              <a:t>When respondents were shown a story of a Black unemployed individual, only 53 percent listed unemployment as one of the top three problems facing the United States.  </a:t>
            </a:r>
            <a:endParaRPr lang="en-US" altLang="en-US" sz="2000" kern="1200" dirty="0">
              <a:solidFill>
                <a:prstClr val="black"/>
              </a:solidFill>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571541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8.16</a:t>
            </a:r>
          </a:p>
        </p:txBody>
      </p:sp>
      <p:sp>
        <p:nvSpPr>
          <p:cNvPr id="7" name="Text"/>
          <p:cNvSpPr>
            <a:spLocks noGrp="1"/>
          </p:cNvSpPr>
          <p:nvPr>
            <p:ph type="body" sz="quarter" idx="14"/>
          </p:nvPr>
        </p:nvSpPr>
        <p:spPr/>
        <p:txBody>
          <a:bodyPr>
            <a:normAutofit/>
          </a:bodyPr>
          <a:lstStyle/>
          <a:p>
            <a:r>
              <a:rPr lang="en-US" sz="1600" dirty="0"/>
              <a:t>Civil war in Syria has led many to flee the country, including this woman living in a Syrian refugee camp in Jordan in September 2015. Episodic framing of the stories of Syrian refugees, and their deaths, turned government inaction into action. (credit: </a:t>
            </a:r>
            <a:r>
              <a:rPr lang="en-US" sz="1600" dirty="0" err="1"/>
              <a:t>Enes</a:t>
            </a:r>
            <a:r>
              <a:rPr lang="en-US" sz="1600" dirty="0"/>
              <a:t> </a:t>
            </a:r>
            <a:r>
              <a:rPr lang="en-US" sz="1600" dirty="0" err="1"/>
              <a:t>Reyhan</a:t>
            </a:r>
            <a:r>
              <a:rPr lang="en-US" sz="1600" dirty="0"/>
              <a:t>)</a:t>
            </a:r>
          </a:p>
        </p:txBody>
      </p:sp>
      <p:pic>
        <p:nvPicPr>
          <p:cNvPr id="2" name="Figure" descr="An image of an old person. In the background are an adult and a child in a tent."/>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26788" r="-26788"/>
          <a:stretch>
            <a:fillRect/>
          </a:stretch>
        </p:blipFill>
        <p:spPr/>
      </p:pic>
    </p:spTree>
    <p:extLst>
      <p:ext uri="{BB962C8B-B14F-4D97-AF65-F5344CB8AC3E}">
        <p14:creationId xmlns:p14="http://schemas.microsoft.com/office/powerpoint/2010/main" val="1282168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E9219E2A-3A79-7443-8372-CA1FC3E3DCD9}"/>
              </a:ext>
            </a:extLst>
          </p:cNvPr>
          <p:cNvSpPr/>
          <p:nvPr/>
        </p:nvSpPr>
        <p:spPr>
          <a:xfrm>
            <a:off x="536665" y="366541"/>
            <a:ext cx="8070671" cy="615553"/>
          </a:xfrm>
          <a:prstGeom prst="rect">
            <a:avLst/>
          </a:prstGeom>
        </p:spPr>
        <p:txBody>
          <a:bodyPr wrap="none">
            <a:spAutoFit/>
          </a:bodyPr>
          <a:lstStyle/>
          <a:p>
            <a:r>
              <a:rPr lang="en-US" altLang="en-US" sz="3400" b="1" kern="1200" dirty="0">
                <a:solidFill>
                  <a:prstClr val="black"/>
                </a:solidFill>
                <a:latin typeface="Calibri"/>
                <a:ea typeface="ＭＳ Ｐゴシック" panose="020B0600070205080204" pitchFamily="34" charset="-128"/>
              </a:rPr>
              <a:t>Government Oversight and Influence, Part 1</a:t>
            </a:r>
            <a:endParaRPr lang="en-US" sz="3400" dirty="0"/>
          </a:p>
        </p:txBody>
      </p:sp>
      <p:sp>
        <p:nvSpPr>
          <p:cNvPr id="3" name="Rectangle 2">
            <a:extLst>
              <a:ext uri="{FF2B5EF4-FFF2-40B4-BE49-F238E27FC236}">
                <a16:creationId xmlns:a16="http://schemas.microsoft.com/office/drawing/2014/main" id="{C06D19CF-87B5-BD4F-95D7-8A92A78C4DA2}"/>
              </a:ext>
            </a:extLst>
          </p:cNvPr>
          <p:cNvSpPr/>
          <p:nvPr/>
        </p:nvSpPr>
        <p:spPr>
          <a:xfrm>
            <a:off x="536664" y="1316342"/>
            <a:ext cx="8070671" cy="2954655"/>
          </a:xfrm>
          <a:prstGeom prst="rect">
            <a:avLst/>
          </a:prstGeom>
        </p:spPr>
        <p:txBody>
          <a:bodyPr wrap="square">
            <a:spAutoFit/>
          </a:bodyPr>
          <a:lstStyle/>
          <a:p>
            <a:pPr marL="342900" lvl="0" indent="-342900" defTabSz="457200">
              <a:spcAft>
                <a:spcPts val="1200"/>
              </a:spcAft>
              <a:buClrTx/>
              <a:buFont typeface="Arial" panose="020B0604020202020204" pitchFamily="34" charset="0"/>
              <a:buChar char="•"/>
              <a:defRPr/>
            </a:pPr>
            <a:r>
              <a:rPr lang="en-US" sz="2200" i="1" kern="1200" dirty="0">
                <a:solidFill>
                  <a:prstClr val="black"/>
                </a:solidFill>
                <a:latin typeface="Calibri" panose="020F0502020204030204" pitchFamily="34" charset="0"/>
                <a:ea typeface="ＭＳ Ｐゴシック" panose="020B0600070205080204" pitchFamily="34" charset="-128"/>
                <a:cs typeface="+mn-cs"/>
              </a:rPr>
              <a:t>Media and FCC Regulations</a:t>
            </a:r>
            <a:r>
              <a:rPr lang="en-US" sz="2200" kern="1200" dirty="0">
                <a:solidFill>
                  <a:prstClr val="black"/>
                </a:solidFill>
                <a:latin typeface="Calibri" panose="020F0502020204030204" pitchFamily="34" charset="0"/>
                <a:ea typeface="ＭＳ Ｐゴシック" panose="020B0600070205080204" pitchFamily="34" charset="-128"/>
                <a:cs typeface="+mn-cs"/>
              </a:rPr>
              <a:t>: The liberties enjoyed by newspapers are overseen by the U.S. court system, while television and radio broadcasters are monitored by both the courts and a government regulatory commission.</a:t>
            </a:r>
          </a:p>
          <a:p>
            <a:pPr marL="800100" lvl="1"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rPr>
              <a:t>The FCC enforces ownership limits to avoid monopolies and censors material deemed inappropriate. It has no jurisdiction over print media, mainly because print media are purchased and not broadcast. </a:t>
            </a:r>
          </a:p>
        </p:txBody>
      </p:sp>
    </p:spTree>
    <p:extLst>
      <p:ext uri="{BB962C8B-B14F-4D97-AF65-F5344CB8AC3E}">
        <p14:creationId xmlns:p14="http://schemas.microsoft.com/office/powerpoint/2010/main" val="13562414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8.13</a:t>
            </a:r>
          </a:p>
        </p:txBody>
      </p:sp>
      <p:sp>
        <p:nvSpPr>
          <p:cNvPr id="7" name="Text"/>
          <p:cNvSpPr>
            <a:spLocks noGrp="1"/>
          </p:cNvSpPr>
          <p:nvPr>
            <p:ph type="body" sz="quarter" idx="14"/>
          </p:nvPr>
        </p:nvSpPr>
        <p:spPr>
          <a:xfrm>
            <a:off x="457200" y="5009322"/>
            <a:ext cx="8062912" cy="1001042"/>
          </a:xfrm>
        </p:spPr>
        <p:txBody>
          <a:bodyPr>
            <a:normAutofit/>
          </a:bodyPr>
          <a:lstStyle/>
          <a:p>
            <a:r>
              <a:rPr lang="en-US" sz="1600" dirty="0"/>
              <a:t>In June 2018, the leadership of the FCC included (from left to right) Jessica </a:t>
            </a:r>
            <a:r>
              <a:rPr lang="en-US" sz="1600" dirty="0" err="1"/>
              <a:t>Rosenworcel</a:t>
            </a:r>
            <a:r>
              <a:rPr lang="en-US" sz="1600" dirty="0"/>
              <a:t>, Michael </a:t>
            </a:r>
            <a:r>
              <a:rPr lang="en-US" sz="1600" dirty="0" err="1"/>
              <a:t>O'Rielly</a:t>
            </a:r>
            <a:r>
              <a:rPr lang="en-US" sz="1600" dirty="0"/>
              <a:t>, </a:t>
            </a:r>
            <a:r>
              <a:rPr lang="en-US" sz="1600" dirty="0" err="1"/>
              <a:t>Ajit</a:t>
            </a:r>
            <a:r>
              <a:rPr lang="en-US" sz="1600" dirty="0"/>
              <a:t> </a:t>
            </a:r>
            <a:r>
              <a:rPr lang="en-US" sz="1600" dirty="0" err="1"/>
              <a:t>Pai</a:t>
            </a:r>
            <a:r>
              <a:rPr lang="en-US" sz="1600" dirty="0"/>
              <a:t>, and Brendan Carr. (credit: Federal Communications Commission)</a:t>
            </a:r>
          </a:p>
        </p:txBody>
      </p:sp>
      <p:pic>
        <p:nvPicPr>
          <p:cNvPr id="3074" name="Picture 2" descr="A photograph shows the commissioners of the FCC: Jessica Rosenworcel, Michael O'Rilley, Ajit Pai, and Brendan Car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91935" y="1122386"/>
            <a:ext cx="6371741" cy="3644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704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73CB9289-C5B8-A647-BE4F-5B8F303B0E16}"/>
              </a:ext>
            </a:extLst>
          </p:cNvPr>
          <p:cNvSpPr/>
          <p:nvPr/>
        </p:nvSpPr>
        <p:spPr>
          <a:xfrm>
            <a:off x="536665" y="366541"/>
            <a:ext cx="8070671" cy="615553"/>
          </a:xfrm>
          <a:prstGeom prst="rect">
            <a:avLst/>
          </a:prstGeom>
        </p:spPr>
        <p:txBody>
          <a:bodyPr wrap="none">
            <a:spAutoFit/>
          </a:bodyPr>
          <a:lstStyle/>
          <a:p>
            <a:r>
              <a:rPr lang="en-US" altLang="en-US" sz="3400" b="1" kern="1200" dirty="0">
                <a:solidFill>
                  <a:prstClr val="black"/>
                </a:solidFill>
                <a:latin typeface="Calibri"/>
                <a:ea typeface="ＭＳ Ｐゴシック" panose="020B0600070205080204" pitchFamily="34" charset="-128"/>
              </a:rPr>
              <a:t>Government Oversight and Influence, Part 2</a:t>
            </a:r>
            <a:endParaRPr lang="en-US" sz="3400" dirty="0"/>
          </a:p>
        </p:txBody>
      </p:sp>
      <p:sp>
        <p:nvSpPr>
          <p:cNvPr id="3" name="Rectangle 2">
            <a:extLst>
              <a:ext uri="{FF2B5EF4-FFF2-40B4-BE49-F238E27FC236}">
                <a16:creationId xmlns:a16="http://schemas.microsoft.com/office/drawing/2014/main" id="{8852AE09-C47A-C745-BC43-E62DDD92644B}"/>
              </a:ext>
            </a:extLst>
          </p:cNvPr>
          <p:cNvSpPr/>
          <p:nvPr/>
        </p:nvSpPr>
        <p:spPr>
          <a:xfrm>
            <a:off x="536665" y="1536174"/>
            <a:ext cx="8070671" cy="3785652"/>
          </a:xfrm>
          <a:prstGeom prst="rect">
            <a:avLst/>
          </a:prstGeom>
        </p:spPr>
        <p:txBody>
          <a:bodyPr wrap="square">
            <a:spAutoFit/>
          </a:bodyPr>
          <a:lstStyle/>
          <a:p>
            <a:pPr marL="800100" lvl="1"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The FCC also maintains </a:t>
            </a: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indecency regulations </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over television, radio, and other broadcasters, which limit content considered indecent and keep the public airwaves free of obscene material.</a:t>
            </a:r>
          </a:p>
          <a:p>
            <a:pPr marL="800100" lvl="1" indent="-342900" defTabSz="457200" fontAlgn="base">
              <a:spcBef>
                <a:spcPct val="0"/>
              </a:spcBef>
              <a:spcAft>
                <a:spcPts val="1200"/>
              </a:spcAft>
              <a:buClrTx/>
              <a:buFont typeface="Arial" panose="020B0604020202020204" pitchFamily="34" charset="0"/>
              <a:buChar char="–"/>
            </a:pPr>
            <a:endParaRPr lang="en-US" altLang="en-US" sz="2200" kern="1200" dirty="0">
              <a:solidFill>
                <a:prstClr val="black"/>
              </a:solidFill>
              <a:latin typeface="Calibri" panose="020F0502020204030204" pitchFamily="34" charset="0"/>
              <a:ea typeface="ＭＳ Ｐゴシック" panose="020B0600070205080204" pitchFamily="34" charset="-128"/>
              <a:cs typeface="+mn-cs"/>
            </a:endParaRPr>
          </a:p>
          <a:p>
            <a:pPr marL="342900" lvl="0" indent="-342900" defTabSz="457200" fontAlgn="base">
              <a:spcBef>
                <a:spcPct val="0"/>
              </a:spcBef>
              <a:spcAft>
                <a:spcPts val="1200"/>
              </a:spcAft>
              <a:buClrTx/>
              <a:buFont typeface="Arial" panose="020B0604020202020204" pitchFamily="34" charset="0"/>
              <a:buChar char="•"/>
            </a:pPr>
            <a:r>
              <a:rPr lang="en-US" altLang="en-US" sz="2200" kern="1200" dirty="0">
                <a:solidFill>
                  <a:prstClr val="black"/>
                </a:solidFill>
                <a:latin typeface="Calibri" panose="020F0502020204030204" pitchFamily="34" charset="0"/>
                <a:ea typeface="ＭＳ Ｐゴシック" panose="020B0600070205080204" pitchFamily="34" charset="-128"/>
                <a:cs typeface="+mn-cs"/>
              </a:rPr>
              <a:t>The</a:t>
            </a:r>
            <a:r>
              <a:rPr lang="en-US" altLang="en-US" sz="2200" b="1" kern="1200" dirty="0">
                <a:solidFill>
                  <a:prstClr val="black"/>
                </a:solidFill>
                <a:latin typeface="Calibri" panose="020F0502020204030204" pitchFamily="34" charset="0"/>
                <a:ea typeface="ＭＳ Ｐゴシック" panose="020B0600070205080204" pitchFamily="34" charset="-128"/>
                <a:cs typeface="+mn-cs"/>
              </a:rPr>
              <a:t> </a:t>
            </a:r>
            <a:r>
              <a:rPr lang="en-US" altLang="en-US" sz="2200" i="1" kern="1200" dirty="0">
                <a:solidFill>
                  <a:prstClr val="black"/>
                </a:solidFill>
                <a:latin typeface="Calibri" panose="020F0502020204030204" pitchFamily="34" charset="0"/>
                <a:ea typeface="ＭＳ Ｐゴシック" panose="020B0600070205080204" pitchFamily="34" charset="-128"/>
                <a:cs typeface="+mn-cs"/>
              </a:rPr>
              <a:t>equal time rule </a:t>
            </a:r>
            <a:r>
              <a:rPr lang="en-US" altLang="en-US" sz="2200" kern="1200" dirty="0">
                <a:solidFill>
                  <a:prstClr val="black"/>
                </a:solidFill>
                <a:latin typeface="Calibri" panose="020F0502020204030204" pitchFamily="34" charset="0"/>
                <a:ea typeface="ＭＳ Ｐゴシック" panose="020B0600070205080204" pitchFamily="34" charset="-128"/>
                <a:cs typeface="+mn-cs"/>
              </a:rPr>
              <a:t>states that registered candidates running for office must be given equal opportunities for airtime and advertisements at non-cable television and radio stations beginning forty-five days before a primary election and sixty days before a general election.</a:t>
            </a:r>
          </a:p>
        </p:txBody>
      </p:sp>
    </p:spTree>
    <p:extLst>
      <p:ext uri="{BB962C8B-B14F-4D97-AF65-F5344CB8AC3E}">
        <p14:creationId xmlns:p14="http://schemas.microsoft.com/office/powerpoint/2010/main" val="8999079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8.14</a:t>
            </a:r>
          </a:p>
        </p:txBody>
      </p:sp>
      <p:sp>
        <p:nvSpPr>
          <p:cNvPr id="7" name="Text"/>
          <p:cNvSpPr>
            <a:spLocks noGrp="1"/>
          </p:cNvSpPr>
          <p:nvPr>
            <p:ph type="body" sz="quarter" idx="14"/>
          </p:nvPr>
        </p:nvSpPr>
        <p:spPr/>
        <p:txBody>
          <a:bodyPr>
            <a:normAutofit/>
          </a:bodyPr>
          <a:lstStyle/>
          <a:p>
            <a:r>
              <a:rPr lang="en-US" sz="1600" dirty="0"/>
              <a:t>On October 22, 2015, the House Select Committee on Benghazi listened to testimony from former Secretary of State Hillary Clinton for close to eleven hours.</a:t>
            </a:r>
          </a:p>
        </p:txBody>
      </p:sp>
      <p:pic>
        <p:nvPicPr>
          <p:cNvPr id="2" name="Figure" descr="An image of several people seated behind a long wooden bench."/>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4083" r="-14083"/>
          <a:stretch>
            <a:fillRect/>
          </a:stretch>
        </p:blipFill>
        <p:spPr/>
      </p:pic>
    </p:spTree>
    <p:extLst>
      <p:ext uri="{BB962C8B-B14F-4D97-AF65-F5344CB8AC3E}">
        <p14:creationId xmlns:p14="http://schemas.microsoft.com/office/powerpoint/2010/main" val="319499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8.15</a:t>
            </a:r>
          </a:p>
        </p:txBody>
      </p:sp>
      <p:sp>
        <p:nvSpPr>
          <p:cNvPr id="7" name="Text"/>
          <p:cNvSpPr>
            <a:spLocks noGrp="1"/>
          </p:cNvSpPr>
          <p:nvPr>
            <p:ph type="body" sz="quarter" idx="14"/>
          </p:nvPr>
        </p:nvSpPr>
        <p:spPr/>
        <p:txBody>
          <a:bodyPr>
            <a:normAutofit/>
          </a:bodyPr>
          <a:lstStyle/>
          <a:p>
            <a:r>
              <a:rPr lang="en-US" sz="1600" dirty="0"/>
              <a:t>President Barack Obama and White House correspondent Helen Thomas set aside their differences over transparency to enjoy cupcakes in honor of their shared birthday on August 4, 2009.</a:t>
            </a:r>
          </a:p>
        </p:txBody>
      </p:sp>
      <p:pic>
        <p:nvPicPr>
          <p:cNvPr id="2" name="Figure" descr="An image of Barack Obama and Helen Thomas seated. Obama holds a plate of cake."/>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6788" r="-26788"/>
          <a:stretch>
            <a:fillRect/>
          </a:stretch>
        </p:blipFill>
        <p:spPr/>
      </p:pic>
    </p:spTree>
    <p:extLst>
      <p:ext uri="{BB962C8B-B14F-4D97-AF65-F5344CB8AC3E}">
        <p14:creationId xmlns:p14="http://schemas.microsoft.com/office/powerpoint/2010/main" val="7263479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8.17</a:t>
            </a:r>
          </a:p>
        </p:txBody>
      </p:sp>
      <p:sp>
        <p:nvSpPr>
          <p:cNvPr id="7" name="Text"/>
          <p:cNvSpPr>
            <a:spLocks noGrp="1"/>
          </p:cNvSpPr>
          <p:nvPr>
            <p:ph type="body" sz="quarter" idx="14"/>
          </p:nvPr>
        </p:nvSpPr>
        <p:spPr>
          <a:xfrm>
            <a:off x="457200" y="5029200"/>
            <a:ext cx="8062912" cy="981164"/>
          </a:xfrm>
        </p:spPr>
        <p:txBody>
          <a:bodyPr>
            <a:normAutofit/>
          </a:bodyPr>
          <a:lstStyle/>
          <a:p>
            <a:r>
              <a:rPr lang="en-US" sz="1600" dirty="0"/>
              <a:t>Media coverage of campaigns is increasingly negative, with cable news stations demonstrating more bias in their framing of stories during the 2012 campaign.</a:t>
            </a:r>
          </a:p>
        </p:txBody>
      </p:sp>
      <p:pic>
        <p:nvPicPr>
          <p:cNvPr id="4098" name="Picture 2" descr="A bar graph titled “Bias in cable News coverage of Presidential Candidates, 2012”. The legend lists two categories, “stories with negative tone” and “stories with positive tone”. Under “CNN”, stories about Obama were 18% positive and 21% negative, and stories about Romney were 11% positive and 36% negative.  Under “MSNBC”, stories about Obama were 39% positive and 15% negative, and stories about Romney were 3% positive and 71% negative. Under “FOX”, stories about Obama were 6% positive and 46% negative, and stories about Romney were 28% positive and 12% negative. At the bottom of the graph, a source is cited: “Pew Research Center. “Tone of Coverage on Cable News.” August 27-October 21, 201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60443" y="1122386"/>
            <a:ext cx="5943601" cy="363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374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normAutofit/>
          </a:bodyPr>
          <a:lstStyle/>
          <a:p>
            <a:r>
              <a:rPr lang="en-US" b="1" dirty="0"/>
              <a:t>Figure 8.18				</a:t>
            </a:r>
          </a:p>
        </p:txBody>
      </p:sp>
      <p:sp>
        <p:nvSpPr>
          <p:cNvPr id="7" name="Text"/>
          <p:cNvSpPr>
            <a:spLocks noGrp="1"/>
          </p:cNvSpPr>
          <p:nvPr>
            <p:ph type="body" sz="quarter" idx="14"/>
          </p:nvPr>
        </p:nvSpPr>
        <p:spPr/>
        <p:txBody>
          <a:bodyPr>
            <a:normAutofit/>
          </a:bodyPr>
          <a:lstStyle/>
          <a:p>
            <a:r>
              <a:rPr lang="en-US" sz="1600" dirty="0"/>
              <a:t>First Lady Nancy Reagan speaks at a “Just Say No” rally in Los Angeles on May 13, 1987 </a:t>
            </a:r>
            <a:r>
              <a:rPr lang="en-US" sz="1600" dirty="0">
                <a:solidFill>
                  <a:srgbClr val="6CB255"/>
                </a:solidFill>
              </a:rPr>
              <a:t>(a)</a:t>
            </a:r>
            <a:r>
              <a:rPr lang="en-US" sz="1600" dirty="0"/>
              <a:t>. The Drug Abuse Resistance Education (D.A.R.E.) is an anti-drug, anti-gang program founded in 1983 by a joint initiative of the Los Angeles Police Department and the Los Angeles Unified School District.</a:t>
            </a:r>
          </a:p>
        </p:txBody>
      </p:sp>
      <p:pic>
        <p:nvPicPr>
          <p:cNvPr id="2" name="Figure" descr="Image A is of Nancy Reagan standing behind a podium. A sign on the podium reads “Just say no”. Image B is of a poster that reads “D.A.R.E. to resist drugs and violence. Drug Abuse Resistance Education”."/>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333" r="-3333"/>
          <a:stretch>
            <a:fillRect/>
          </a:stretch>
        </p:blipFill>
        <p:spPr/>
      </p:pic>
    </p:spTree>
    <p:extLst>
      <p:ext uri="{BB962C8B-B14F-4D97-AF65-F5344CB8AC3E}">
        <p14:creationId xmlns:p14="http://schemas.microsoft.com/office/powerpoint/2010/main" val="2970609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igureNum"/>
          <p:cNvSpPr>
            <a:spLocks noGrp="1"/>
          </p:cNvSpPr>
          <p:nvPr>
            <p:ph type="title"/>
          </p:nvPr>
        </p:nvSpPr>
        <p:spPr/>
        <p:txBody>
          <a:bodyPr/>
          <a:lstStyle/>
          <a:p>
            <a:r>
              <a:rPr lang="en-US" b="1" dirty="0"/>
              <a:t>Figure 8.19</a:t>
            </a:r>
          </a:p>
        </p:txBody>
      </p:sp>
      <p:sp>
        <p:nvSpPr>
          <p:cNvPr id="7" name="Text"/>
          <p:cNvSpPr>
            <a:spLocks noGrp="1"/>
          </p:cNvSpPr>
          <p:nvPr>
            <p:ph type="body" sz="quarter" idx="14"/>
          </p:nvPr>
        </p:nvSpPr>
        <p:spPr/>
        <p:txBody>
          <a:bodyPr>
            <a:noAutofit/>
          </a:bodyPr>
          <a:lstStyle/>
          <a:p>
            <a:r>
              <a:rPr lang="en-US" sz="1550" dirty="0"/>
              <a:t>When Sarah Palin found herself on the national stage at the Republican Convention in September 2008, media coverage about her selection as John McCain’s running mate included numerous questions about her ability to serve based on personal family history. Attacks on candidates’ families lead many women to postpone or avoid running for office. (credit: Carol </a:t>
            </a:r>
            <a:r>
              <a:rPr lang="en-US" sz="1550" dirty="0" err="1"/>
              <a:t>Highsmith</a:t>
            </a:r>
            <a:r>
              <a:rPr lang="en-US" sz="1550" dirty="0"/>
              <a:t>)</a:t>
            </a:r>
          </a:p>
        </p:txBody>
      </p:sp>
      <p:pic>
        <p:nvPicPr>
          <p:cNvPr id="3" name="Figure" descr="An image of Sarah Palin on a stage with John McCain and several other people."/>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26788" r="-26788"/>
          <a:stretch>
            <a:fillRect/>
          </a:stretch>
        </p:blipFill>
        <p:spPr/>
      </p:pic>
    </p:spTree>
    <p:extLst>
      <p:ext uri="{BB962C8B-B14F-4D97-AF65-F5344CB8AC3E}">
        <p14:creationId xmlns:p14="http://schemas.microsoft.com/office/powerpoint/2010/main" val="1950567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2" name="Rectangle 1">
            <a:extLst>
              <a:ext uri="{FF2B5EF4-FFF2-40B4-BE49-F238E27FC236}">
                <a16:creationId xmlns:a16="http://schemas.microsoft.com/office/drawing/2014/main" id="{985FB6B6-39B6-C441-9D12-9C9052AE0D7B}"/>
              </a:ext>
            </a:extLst>
          </p:cNvPr>
          <p:cNvSpPr/>
          <p:nvPr/>
        </p:nvSpPr>
        <p:spPr>
          <a:xfrm>
            <a:off x="779071" y="366542"/>
            <a:ext cx="7585859" cy="707886"/>
          </a:xfrm>
          <a:prstGeom prst="rect">
            <a:avLst/>
          </a:prstGeom>
        </p:spPr>
        <p:txBody>
          <a:bodyPr wrap="none">
            <a:spAutoFit/>
          </a:bodyPr>
          <a:lstStyle/>
          <a:p>
            <a:r>
              <a:rPr lang="en-US" altLang="en-US" sz="4000" b="1" kern="1200" dirty="0">
                <a:solidFill>
                  <a:prstClr val="black"/>
                </a:solidFill>
                <a:latin typeface="Calibri"/>
                <a:ea typeface="ＭＳ Ｐゴシック" panose="020B0600070205080204" pitchFamily="34" charset="-128"/>
              </a:rPr>
              <a:t>Exceptions to Freedom of the Press</a:t>
            </a:r>
            <a:endParaRPr lang="en-US" dirty="0"/>
          </a:p>
        </p:txBody>
      </p:sp>
      <p:sp>
        <p:nvSpPr>
          <p:cNvPr id="3" name="Rectangle 2">
            <a:extLst>
              <a:ext uri="{FF2B5EF4-FFF2-40B4-BE49-F238E27FC236}">
                <a16:creationId xmlns:a16="http://schemas.microsoft.com/office/drawing/2014/main" id="{CAF2351D-220F-DF4E-8EDF-BC24ED348EA2}"/>
              </a:ext>
            </a:extLst>
          </p:cNvPr>
          <p:cNvSpPr/>
          <p:nvPr/>
        </p:nvSpPr>
        <p:spPr>
          <a:xfrm>
            <a:off x="554477" y="1657330"/>
            <a:ext cx="8171234" cy="2354491"/>
          </a:xfrm>
          <a:prstGeom prst="rect">
            <a:avLst/>
          </a:prstGeom>
        </p:spPr>
        <p:txBody>
          <a:bodyPr wrap="square">
            <a:spAutoFit/>
          </a:bodyPr>
          <a:lstStyle/>
          <a:p>
            <a:pPr marL="342900" lvl="0" indent="-342900" defTabSz="457200">
              <a:spcAft>
                <a:spcPts val="1800"/>
              </a:spcAft>
              <a:buClrTx/>
              <a:buFont typeface="Arial" panose="020B0604020202020204" pitchFamily="34" charset="0"/>
              <a:buChar char="•"/>
              <a:defRPr/>
            </a:pPr>
            <a:r>
              <a:rPr lang="en-US" sz="2200" i="1" kern="1200" dirty="0">
                <a:solidFill>
                  <a:prstClr val="black"/>
                </a:solidFill>
                <a:latin typeface="Calibri" panose="020F0502020204030204" pitchFamily="34" charset="0"/>
                <a:ea typeface="ＭＳ Ｐゴシック" panose="020B0600070205080204" pitchFamily="34" charset="-128"/>
                <a:cs typeface="+mn-cs"/>
              </a:rPr>
              <a:t>Slander and libel: </a:t>
            </a:r>
            <a:r>
              <a:rPr lang="en-US" sz="2200" kern="1200" dirty="0">
                <a:solidFill>
                  <a:prstClr val="black"/>
                </a:solidFill>
                <a:latin typeface="Calibri" panose="020F0502020204030204" pitchFamily="34" charset="0"/>
                <a:ea typeface="ＭＳ Ｐゴシック" panose="020B0600070205080204" pitchFamily="34" charset="-128"/>
                <a:cs typeface="+mn-cs"/>
              </a:rPr>
              <a:t>The media do not have the right to commit slander (speak false information with an intent to harm a person or entity), or libel (print false information with an intent to harm a person or entity).</a:t>
            </a:r>
          </a:p>
          <a:p>
            <a:pPr marL="342900" lvl="0" indent="-342900" defTabSz="457200">
              <a:spcAft>
                <a:spcPts val="1800"/>
              </a:spcAft>
              <a:buClrTx/>
              <a:buFont typeface="Arial" panose="020B0604020202020204" pitchFamily="34" charset="0"/>
              <a:buChar char="•"/>
              <a:defRPr/>
            </a:pPr>
            <a:r>
              <a:rPr lang="en-US" sz="2200" i="1" kern="1200" dirty="0">
                <a:solidFill>
                  <a:prstClr val="black"/>
                </a:solidFill>
                <a:latin typeface="Calibri" panose="020F0502020204030204" pitchFamily="34" charset="0"/>
                <a:ea typeface="ＭＳ Ｐゴシック" panose="020B0600070205080204" pitchFamily="34" charset="-128"/>
                <a:cs typeface="+mn-cs"/>
              </a:rPr>
              <a:t>Classified material: </a:t>
            </a:r>
            <a:r>
              <a:rPr lang="en-US" sz="2200" kern="1200" dirty="0">
                <a:solidFill>
                  <a:prstClr val="black"/>
                </a:solidFill>
                <a:latin typeface="Calibri" panose="020F0502020204030204" pitchFamily="34" charset="0"/>
                <a:ea typeface="ＭＳ Ｐゴシック" panose="020B0600070205080204" pitchFamily="34" charset="-128"/>
                <a:cs typeface="+mn-cs"/>
              </a:rPr>
              <a:t>The media have only a limited right to publish material the government designates as classified.</a:t>
            </a:r>
            <a:endParaRPr lang="en-US" sz="2200" b="1" kern="1200" dirty="0">
              <a:solidFill>
                <a:prstClr val="black"/>
              </a:solidFill>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1239686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180694-18D7-A44B-B951-C2FA3AFCF1DD}"/>
              </a:ext>
            </a:extLst>
          </p:cNvPr>
          <p:cNvSpPr>
            <a:spLocks noGrp="1"/>
          </p:cNvSpPr>
          <p:nvPr>
            <p:ph type="sldNum" sz="quarter" idx="12"/>
          </p:nvPr>
        </p:nvSpPr>
        <p:spPr/>
        <p:txBody>
          <a:bodyPr/>
          <a:lstStyle/>
          <a:p>
            <a:fld id="{F38DF745-7D3F-47F4-83A3-874385CFAA69}" type="slidenum">
              <a:rPr lang="en-US" smtClean="0"/>
              <a:pPr/>
              <a:t>35</a:t>
            </a:fld>
            <a:endParaRPr lang="en-US"/>
          </a:p>
        </p:txBody>
      </p:sp>
      <p:sp>
        <p:nvSpPr>
          <p:cNvPr id="3" name="Title 2">
            <a:extLst>
              <a:ext uri="{FF2B5EF4-FFF2-40B4-BE49-F238E27FC236}">
                <a16:creationId xmlns:a16="http://schemas.microsoft.com/office/drawing/2014/main" id="{C1F1C43F-DE59-E14B-B38C-62D8948F0BF6}"/>
              </a:ext>
            </a:extLst>
          </p:cNvPr>
          <p:cNvSpPr>
            <a:spLocks noGrp="1"/>
          </p:cNvSpPr>
          <p:nvPr>
            <p:ph type="title"/>
          </p:nvPr>
        </p:nvSpPr>
        <p:spPr/>
        <p:txBody>
          <a:bodyPr/>
          <a:lstStyle/>
          <a:p>
            <a:endParaRPr lang="en-US"/>
          </a:p>
        </p:txBody>
      </p:sp>
      <p:sp>
        <p:nvSpPr>
          <p:cNvPr id="5" name="Text Placeholder 4">
            <a:extLst>
              <a:ext uri="{FF2B5EF4-FFF2-40B4-BE49-F238E27FC236}">
                <a16:creationId xmlns:a16="http://schemas.microsoft.com/office/drawing/2014/main" id="{E1E81A80-C4ED-544F-AB80-84F1B75366E9}"/>
              </a:ext>
            </a:extLst>
          </p:cNvPr>
          <p:cNvSpPr>
            <a:spLocks noGrp="1"/>
          </p:cNvSpPr>
          <p:nvPr>
            <p:ph type="body" sz="quarter" idx="14"/>
          </p:nvPr>
        </p:nvSpPr>
        <p:spPr/>
        <p:txBody>
          <a:bodyPr/>
          <a:lstStyle/>
          <a:p>
            <a:endParaRPr lang="en-US"/>
          </a:p>
        </p:txBody>
      </p:sp>
      <p:sp>
        <p:nvSpPr>
          <p:cNvPr id="6" name="TextBox 5">
            <a:extLst>
              <a:ext uri="{FF2B5EF4-FFF2-40B4-BE49-F238E27FC236}">
                <a16:creationId xmlns:a16="http://schemas.microsoft.com/office/drawing/2014/main" id="{DF564225-6C04-3A42-9E6E-14831A2BF310}"/>
              </a:ext>
            </a:extLst>
          </p:cNvPr>
          <p:cNvSpPr txBox="1"/>
          <p:nvPr/>
        </p:nvSpPr>
        <p:spPr>
          <a:xfrm>
            <a:off x="335275" y="4843982"/>
            <a:ext cx="8473450" cy="1384995"/>
          </a:xfrm>
          <a:prstGeom prst="rect">
            <a:avLst/>
          </a:prstGeom>
          <a:noFill/>
        </p:spPr>
        <p:txBody>
          <a:bodyPr wrap="square" rtlCol="0">
            <a:spAutoFit/>
          </a:bodyPr>
          <a:lstStyle/>
          <a:p>
            <a:r>
              <a:rPr lang="en-US" dirty="0"/>
              <a:t>This OpenStax resource is Copyright 2021, Rice University. Significant portions of the text and outlines within these lecture slides were developed or compiled by Macmillan Learning to support OpenStax </a:t>
            </a:r>
            <a:r>
              <a:rPr lang="en-US" i="1" dirty="0"/>
              <a:t>American Government</a:t>
            </a:r>
            <a:r>
              <a:rPr lang="en-US" dirty="0"/>
              <a:t>, and provided to the community under a Creative Commons Attribution 4.0 License.  Photos and illustrations are usually credited to their source.   Where they are not, illustrations are Copyright 2021, Rice University, and also provided under a Creative Commons Attribution 4.0 License. </a:t>
            </a:r>
          </a:p>
        </p:txBody>
      </p:sp>
      <p:sp>
        <p:nvSpPr>
          <p:cNvPr id="9" name="Picture Placeholder 8">
            <a:extLst>
              <a:ext uri="{FF2B5EF4-FFF2-40B4-BE49-F238E27FC236}">
                <a16:creationId xmlns:a16="http://schemas.microsoft.com/office/drawing/2014/main" id="{A8E41832-0BFA-8B42-BB55-D37859CA6943}"/>
              </a:ext>
            </a:extLst>
          </p:cNvPr>
          <p:cNvSpPr>
            <a:spLocks noGrp="1"/>
          </p:cNvSpPr>
          <p:nvPr>
            <p:ph type="pic" sz="quarter" idx="13"/>
          </p:nvPr>
        </p:nvSpPr>
        <p:spPr/>
      </p:sp>
    </p:spTree>
    <p:extLst>
      <p:ext uri="{BB962C8B-B14F-4D97-AF65-F5344CB8AC3E}">
        <p14:creationId xmlns:p14="http://schemas.microsoft.com/office/powerpoint/2010/main" val="2495914663"/>
      </p:ext>
    </p:extLst>
  </p:cSld>
  <p:clrMapOvr>
    <a:masterClrMapping/>
  </p:clrMapOvr>
</p:sld>
</file>

<file path=ppt/theme/theme1.xml><?xml version="1.0" encoding="utf-8"?>
<a:theme xmlns:a="http://schemas.openxmlformats.org/drawingml/2006/main" name="Title Slide">
  <a:themeElements>
    <a:clrScheme name="Custom 12">
      <a:dk1>
        <a:srgbClr val="000000"/>
      </a:dk1>
      <a:lt1>
        <a:srgbClr val="FFFFFF"/>
      </a:lt1>
      <a:dk2>
        <a:srgbClr val="BB1A24"/>
      </a:dk2>
      <a:lt2>
        <a:srgbClr val="4E1A67"/>
      </a:lt2>
      <a:accent1>
        <a:srgbClr val="8C8F8D"/>
      </a:accent1>
      <a:accent2>
        <a:srgbClr val="DA5120"/>
      </a:accent2>
      <a:accent3>
        <a:srgbClr val="EEA135"/>
      </a:accent3>
      <a:accent4>
        <a:srgbClr val="77003D"/>
      </a:accent4>
      <a:accent5>
        <a:srgbClr val="81C7CE"/>
      </a:accent5>
      <a:accent6>
        <a:srgbClr val="481A66"/>
      </a:accent6>
      <a:hlink>
        <a:srgbClr val="0432FF"/>
      </a:hlink>
      <a:folHlink>
        <a:srgbClr val="D4352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ntellus Slide theme for IOC 3 7.30.18 Module Overview" id="{2A39B0F4-C009-154B-A568-8C9731895113}" vid="{B9C31539-3BB1-374B-A0EC-4A573518942C}"/>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Title Slide</Template>
  <TotalTime>63</TotalTime>
  <Words>2308</Words>
  <Application>Microsoft Office PowerPoint</Application>
  <PresentationFormat>On-screen Show (4:3)</PresentationFormat>
  <Paragraphs>117</Paragraphs>
  <Slides>35</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Title Slide</vt:lpstr>
      <vt:lpstr>PowerPoint Presentation</vt:lpstr>
      <vt:lpstr>PowerPoint Presentation</vt:lpstr>
      <vt:lpstr>Figure 8.1</vt:lpstr>
      <vt:lpstr>PowerPoint Presentation</vt:lpstr>
      <vt:lpstr>PowerPoint Presentation</vt:lpstr>
      <vt:lpstr>Figure 8.2</vt:lpstr>
      <vt:lpstr>PowerPoint Presentation</vt:lpstr>
      <vt:lpstr>Figure 8.4</vt:lpstr>
      <vt:lpstr>PowerPoint Presentation</vt:lpstr>
      <vt:lpstr>Figure 8.3 (2019 version)</vt:lpstr>
      <vt:lpstr>Figure 8.3 – 2021</vt:lpstr>
      <vt:lpstr>PowerPoint Presentation</vt:lpstr>
      <vt:lpstr>Figure 8.6</vt:lpstr>
      <vt:lpstr>PowerPoint Presentation</vt:lpstr>
      <vt:lpstr>Figure 8.7</vt:lpstr>
      <vt:lpstr>Figure 8.8</vt:lpstr>
      <vt:lpstr>PowerPoint Presentation</vt:lpstr>
      <vt:lpstr>Figure 8.9</vt:lpstr>
      <vt:lpstr>Figure 8.10</vt:lpstr>
      <vt:lpstr>PowerPoint Presentation</vt:lpstr>
      <vt:lpstr>Figure 8.11</vt:lpstr>
      <vt:lpstr>PowerPoint Presentation</vt:lpstr>
      <vt:lpstr>PowerPoint Presentation</vt:lpstr>
      <vt:lpstr>PowerPoint Presentation</vt:lpstr>
      <vt:lpstr>Figure 8.16</vt:lpstr>
      <vt:lpstr>PowerPoint Presentation</vt:lpstr>
      <vt:lpstr>Figure 8.13</vt:lpstr>
      <vt:lpstr>PowerPoint Presentation</vt:lpstr>
      <vt:lpstr>Figure 8.14</vt:lpstr>
      <vt:lpstr>Figure 8.15</vt:lpstr>
      <vt:lpstr>Figure 8.17</vt:lpstr>
      <vt:lpstr>Figure 8.18    </vt:lpstr>
      <vt:lpstr>Figure 8.19</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Joseph Isokpunwu</cp:lastModifiedBy>
  <cp:revision>14</cp:revision>
  <dcterms:created xsi:type="dcterms:W3CDTF">2018-07-31T13:48:57Z</dcterms:created>
  <dcterms:modified xsi:type="dcterms:W3CDTF">2021-10-07T04:40:56Z</dcterms:modified>
</cp:coreProperties>
</file>